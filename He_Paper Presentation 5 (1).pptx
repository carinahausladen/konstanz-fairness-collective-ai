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2" r:id="rId1"/>
  </p:sldMasterIdLst>
  <p:notesMasterIdLst>
    <p:notesMasterId r:id="rId32"/>
  </p:notesMasterIdLst>
  <p:sldIdLst>
    <p:sldId id="256" r:id="rId2"/>
    <p:sldId id="260" r:id="rId3"/>
    <p:sldId id="263" r:id="rId4"/>
    <p:sldId id="296" r:id="rId5"/>
    <p:sldId id="324" r:id="rId6"/>
    <p:sldId id="325" r:id="rId7"/>
    <p:sldId id="326" r:id="rId8"/>
    <p:sldId id="336" r:id="rId9"/>
    <p:sldId id="339" r:id="rId10"/>
    <p:sldId id="307" r:id="rId11"/>
    <p:sldId id="308" r:id="rId12"/>
    <p:sldId id="309" r:id="rId13"/>
    <p:sldId id="327" r:id="rId14"/>
    <p:sldId id="312" r:id="rId15"/>
    <p:sldId id="313" r:id="rId16"/>
    <p:sldId id="311" r:id="rId17"/>
    <p:sldId id="316" r:id="rId18"/>
    <p:sldId id="317" r:id="rId19"/>
    <p:sldId id="328" r:id="rId20"/>
    <p:sldId id="319" r:id="rId21"/>
    <p:sldId id="330" r:id="rId22"/>
    <p:sldId id="333" r:id="rId23"/>
    <p:sldId id="335" r:id="rId24"/>
    <p:sldId id="331" r:id="rId25"/>
    <p:sldId id="332" r:id="rId26"/>
    <p:sldId id="320" r:id="rId27"/>
    <p:sldId id="321" r:id="rId28"/>
    <p:sldId id="286" r:id="rId29"/>
    <p:sldId id="322" r:id="rId30"/>
    <p:sldId id="290" r:id="rId3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53">
          <p15:clr>
            <a:srgbClr val="A4A3A4"/>
          </p15:clr>
        </p15:guide>
        <p15:guide id="2" orient="horz" pos="3838">
          <p15:clr>
            <a:srgbClr val="A4A3A4"/>
          </p15:clr>
        </p15:guide>
        <p15:guide id="3" orient="horz" pos="4201">
          <p15:clr>
            <a:srgbClr val="A4A3A4"/>
          </p15:clr>
        </p15:guide>
        <p15:guide id="4" orient="horz" pos="3294">
          <p15:clr>
            <a:srgbClr val="A4A3A4"/>
          </p15:clr>
        </p15:guide>
        <p15:guide id="5" orient="horz" pos="255">
          <p15:clr>
            <a:srgbClr val="A4A3A4"/>
          </p15:clr>
        </p15:guide>
        <p15:guide id="6" orient="horz" pos="1026">
          <p15:clr>
            <a:srgbClr val="A4A3A4"/>
          </p15:clr>
        </p15:guide>
        <p15:guide id="7" orient="horz" pos="3884">
          <p15:clr>
            <a:srgbClr val="A4A3A4"/>
          </p15:clr>
        </p15:guide>
        <p15:guide id="8" orient="horz" pos="3385">
          <p15:clr>
            <a:srgbClr val="A4A3A4"/>
          </p15:clr>
        </p15:guide>
        <p15:guide id="9" orient="horz" pos="2704">
          <p15:clr>
            <a:srgbClr val="A4A3A4"/>
          </p15:clr>
        </p15:guide>
        <p15:guide id="10" orient="horz" pos="1207">
          <p15:clr>
            <a:srgbClr val="A4A3A4"/>
          </p15:clr>
        </p15:guide>
        <p15:guide id="11" orient="horz" pos="1525">
          <p15:clr>
            <a:srgbClr val="A4A3A4"/>
          </p15:clr>
        </p15:guide>
        <p15:guide id="12" orient="horz" pos="1480">
          <p15:clr>
            <a:srgbClr val="A4A3A4"/>
          </p15:clr>
        </p15:guide>
        <p15:guide id="13" orient="horz" pos="3067">
          <p15:clr>
            <a:srgbClr val="A4A3A4"/>
          </p15:clr>
        </p15:guide>
        <p15:guide id="14" orient="horz" pos="1979">
          <p15:clr>
            <a:srgbClr val="A4A3A4"/>
          </p15:clr>
        </p15:guide>
        <p15:guide id="15" pos="2925">
          <p15:clr>
            <a:srgbClr val="A4A3A4"/>
          </p15:clr>
        </p15:guide>
        <p15:guide id="16" pos="2835">
          <p15:clr>
            <a:srgbClr val="A4A3A4"/>
          </p15:clr>
        </p15:guide>
        <p15:guide id="17" pos="2245">
          <p15:clr>
            <a:srgbClr val="A4A3A4"/>
          </p15:clr>
        </p15:guide>
        <p15:guide id="18" pos="2154">
          <p15:clr>
            <a:srgbClr val="A4A3A4"/>
          </p15:clr>
        </p15:guide>
        <p15:guide id="19" pos="1565">
          <p15:clr>
            <a:srgbClr val="A4A3A4"/>
          </p15:clr>
        </p15:guide>
        <p15:guide id="20" pos="1474">
          <p15:clr>
            <a:srgbClr val="A4A3A4"/>
          </p15:clr>
        </p15:guide>
        <p15:guide id="21" pos="884">
          <p15:clr>
            <a:srgbClr val="A4A3A4"/>
          </p15:clr>
        </p15:guide>
        <p15:guide id="22" pos="793">
          <p15:clr>
            <a:srgbClr val="A4A3A4"/>
          </p15:clr>
        </p15:guide>
        <p15:guide id="23" pos="204">
          <p15:clr>
            <a:srgbClr val="A4A3A4"/>
          </p15:clr>
        </p15:guide>
        <p15:guide id="24" pos="3515">
          <p15:clr>
            <a:srgbClr val="A4A3A4"/>
          </p15:clr>
        </p15:guide>
        <p15:guide id="25" pos="3606">
          <p15:clr>
            <a:srgbClr val="A4A3A4"/>
          </p15:clr>
        </p15:guide>
        <p15:guide id="26" pos="4195">
          <p15:clr>
            <a:srgbClr val="A4A3A4"/>
          </p15:clr>
        </p15:guide>
        <p15:guide id="27" pos="4286">
          <p15:clr>
            <a:srgbClr val="A4A3A4"/>
          </p15:clr>
        </p15:guide>
        <p15:guide id="28" pos="4876">
          <p15:clr>
            <a:srgbClr val="A4A3A4"/>
          </p15:clr>
        </p15:guide>
        <p15:guide id="29" pos="4967">
          <p15:clr>
            <a:srgbClr val="A4A3A4"/>
          </p15:clr>
        </p15:guide>
        <p15:guide id="30" pos="55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53BFD4-A72A-4561-AAAC-6A689B277DDB}">
  <a:tblStyle styleId="{8953BFD4-A72A-4561-AAAC-6A689B277D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66" autoAdjust="0"/>
  </p:normalViewPr>
  <p:slideViewPr>
    <p:cSldViewPr snapToGrid="0">
      <p:cViewPr varScale="1">
        <p:scale>
          <a:sx n="150" d="100"/>
          <a:sy n="150" d="100"/>
        </p:scale>
        <p:origin x="2094" y="114"/>
      </p:cViewPr>
      <p:guideLst>
        <p:guide orient="horz" pos="1253"/>
        <p:guide orient="horz" pos="3838"/>
        <p:guide orient="horz" pos="4201"/>
        <p:guide orient="horz" pos="3294"/>
        <p:guide orient="horz" pos="255"/>
        <p:guide orient="horz" pos="1026"/>
        <p:guide orient="horz" pos="3884"/>
        <p:guide orient="horz" pos="3385"/>
        <p:guide orient="horz" pos="2704"/>
        <p:guide orient="horz" pos="1207"/>
        <p:guide orient="horz" pos="1525"/>
        <p:guide orient="horz" pos="1480"/>
        <p:guide orient="horz" pos="3067"/>
        <p:guide orient="horz" pos="1979"/>
        <p:guide pos="2925"/>
        <p:guide pos="2835"/>
        <p:guide pos="2245"/>
        <p:guide pos="2154"/>
        <p:guide pos="1565"/>
        <p:guide pos="1474"/>
        <p:guide pos="884"/>
        <p:guide pos="793"/>
        <p:guide pos="204"/>
        <p:guide pos="3515"/>
        <p:guide pos="3606"/>
        <p:guide pos="4195"/>
        <p:guide pos="4286"/>
        <p:guide pos="4876"/>
        <p:guide pos="4967"/>
        <p:guide pos="55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539d02cf0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" name="Google Shape;105;g3b539d02cf0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60e0c373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b60e0c373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" name="Google Shape;182;g3b60e0c373d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012D3BEA-31A1-F638-BBAE-196707EC9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D86CEF72-C439-706E-9C7A-767314580A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0C2E489F-D329-F9A1-CC57-DB8CB4BC22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6254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71521966-5886-13B6-EF9F-B6643BDE7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60e0c373d_2_33:notes">
            <a:extLst>
              <a:ext uri="{FF2B5EF4-FFF2-40B4-BE49-F238E27FC236}">
                <a16:creationId xmlns:a16="http://schemas.microsoft.com/office/drawing/2014/main" id="{6BE5843C-8025-486C-FC69-8D21252B44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60e0c373d_2_33:notes">
            <a:extLst>
              <a:ext uri="{FF2B5EF4-FFF2-40B4-BE49-F238E27FC236}">
                <a16:creationId xmlns:a16="http://schemas.microsoft.com/office/drawing/2014/main" id="{636BEB99-1E2C-CEB2-C5B5-87281533E3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9487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060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7526B9C6-ED46-505B-7982-6FA26073F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AA3EAE36-E48B-E2E9-1693-CAD82C4808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07AB0E59-3BF4-AF5C-B391-B5241C84E8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083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8BF15C98-2BB1-0341-669A-8BB066643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A4A1B9EF-6571-B5F2-F35A-18C5CBA59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377ADD6A-3C93-4514-308A-BA9CF6D0CD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81182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D6F44615-72D2-7848-9301-F34215390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D2E04523-D6D0-BCA3-397F-5E90E07E6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F6EF0B34-2BDC-0E4A-CFDB-4446E8EC08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62579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6ABA34D8-DD79-8E26-D071-694EF348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03D0AAAD-DF22-9493-B0EF-A3DFB8052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1E84D918-A4FC-295B-CB74-C8DCFC937C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5146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2B808BFC-B977-D628-9DE5-B688E537E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5C9F7F76-4B89-FE42-7666-B8F2E76315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2EE99BE5-ABF0-E54E-7CC7-741CC47C52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84904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71BB3277-ECD7-B483-A4FE-6C76C8057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8CAC6D27-8E13-C399-9FA5-A619E22681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F31C87D1-D2C6-D3D1-5721-766AA3EAAF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62005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D2566C7E-150A-E62F-80E9-0D8240891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A01F6295-6B2F-1BB1-7CF7-C068146D11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80362F6B-68BB-BCA6-A514-2835D6B52B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4862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B2BD557D-64B6-55DE-54DD-874D57269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7721CCF4-7752-79F3-0B62-2A0DE6FD7D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B61858DE-2AB6-CF56-A5E3-2BDF5183CF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85942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B20366A8-DB39-8936-E46A-582EA132C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922ED131-8E4E-E713-D037-0F5583FE5C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9F403D09-5F4C-C4F3-1306-504F6F97BB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76267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EE188B6E-8723-392E-21BC-A1B07BC49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A40434C3-BA1F-BA6D-4452-6C616F545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35E50E1B-EF8F-E41B-DB54-9AA569D58D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87960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D525CB1C-A826-58C7-7509-DB190B28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046D7A9B-66EB-D3CB-65EF-08FE4346AE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92431699-F109-BDA1-21BF-CC2B944AFF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34829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6BFB86E9-6235-C3EA-9636-F8BA19D3C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63C8812B-96AA-97F8-DE33-32799FB46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04B9FB93-E9DD-6C26-6714-60EC49A5C2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31223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F40DA8EF-C029-918A-E995-06DD0D06C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BC17C706-B31A-5B6D-4DC2-231097C224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1E79CB61-C19A-53D5-805C-91EF3E7E80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76162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8D5DCEA5-7937-3F55-434D-259C5D67C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CE21899E-CEA4-5918-7E65-3757B37912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0E595561-90B1-0A82-BB66-E24F38D68F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13492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B5FF1C36-A904-6D18-990C-77CBB2B55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5BDB57E7-3386-02AE-AFBB-21D3439081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CE4DACCB-0058-D36A-9474-B7D8173968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31338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F530B527-264A-ED45-8E5A-7CA09CA46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B70F78C4-233A-58BE-9BA7-0C678AF928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97E1945E-8DBC-710C-E334-44671F154E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37845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C863ADF0-CCED-464A-1708-F472C30C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3F961D09-72B2-3D05-A750-8AE0026E3A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959B946A-2632-9738-B46F-81C285DA5B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18629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07C49002-1079-3A80-20D8-DFB5C42E7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A672A10D-2363-C50D-4D73-C3ADCCCBC7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987A3660-5E45-7F41-02DD-955EBBA19D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46332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833C18C3-69CA-4C0A-94D1-548058BA3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BD242E7E-F68D-21BE-BBB9-9FB355CB60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F35A8ACB-CA2C-F3AE-1739-F1FAC463A8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36530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C183A4AA-D898-8988-4DFD-E654D7CDD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E05B35A6-3061-1F70-94A8-AB30DBFF56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993C7026-DCED-A869-13F9-24FDD6C5B6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67106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F283CE98-AE78-1A46-18A0-BB7FFF8A6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0e0c373d_2_22:notes">
            <a:extLst>
              <a:ext uri="{FF2B5EF4-FFF2-40B4-BE49-F238E27FC236}">
                <a16:creationId xmlns:a16="http://schemas.microsoft.com/office/drawing/2014/main" id="{984AC119-2205-23C4-6885-E1E6D4C0FC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b60e0c373d_2_22:notes">
            <a:extLst>
              <a:ext uri="{FF2B5EF4-FFF2-40B4-BE49-F238E27FC236}">
                <a16:creationId xmlns:a16="http://schemas.microsoft.com/office/drawing/2014/main" id="{0E24B720-8BFC-9B68-DD10-0A6E8E92B7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26437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b60e0c373d_3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g3b60e0c373d_3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>
          <a:extLst>
            <a:ext uri="{FF2B5EF4-FFF2-40B4-BE49-F238E27FC236}">
              <a16:creationId xmlns:a16="http://schemas.microsoft.com/office/drawing/2014/main" id="{8953823A-19AA-E87A-2D77-7F628DEC3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b60e0c373d_3_195:notes">
            <a:extLst>
              <a:ext uri="{FF2B5EF4-FFF2-40B4-BE49-F238E27FC236}">
                <a16:creationId xmlns:a16="http://schemas.microsoft.com/office/drawing/2014/main" id="{0CCB5490-B5AF-57DF-EB1D-44AE84B26C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g3b60e0c373d_3_195:notes">
            <a:extLst>
              <a:ext uri="{FF2B5EF4-FFF2-40B4-BE49-F238E27FC236}">
                <a16:creationId xmlns:a16="http://schemas.microsoft.com/office/drawing/2014/main" id="{F032D4FC-32C9-DEB6-1D0D-DDB085E5D2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14271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60e0c373d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g3b60e0c373d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 Gross">
  <p:cSld name="Titelfolie Gros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0" y="283"/>
            <a:ext cx="9143622" cy="685743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323850" y="5373688"/>
            <a:ext cx="5256213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u="sng">
                <a:solidFill>
                  <a:schemeClr val="dk1"/>
                </a:solidFill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123" y="0"/>
            <a:ext cx="3689604" cy="202311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>
            <a:spLocks noGrp="1"/>
          </p:cNvSpPr>
          <p:nvPr>
            <p:ph type="ctrTitle"/>
          </p:nvPr>
        </p:nvSpPr>
        <p:spPr>
          <a:xfrm>
            <a:off x="323850" y="2349500"/>
            <a:ext cx="6335713" cy="25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u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323850" y="404664"/>
            <a:ext cx="6335713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323850" y="1988840"/>
            <a:ext cx="6335713" cy="410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Gross und Inhalt">
  <p:cSld name="Titel Gross und Inhal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323850" y="404664"/>
            <a:ext cx="6335713" cy="1224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323850" y="1988840"/>
            <a:ext cx="6335713" cy="410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zwei Bilder">
  <p:cSld name="Titel und zwei Bil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323850" y="404664"/>
            <a:ext cx="6335713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>
            <a:spLocks noGrp="1"/>
          </p:cNvSpPr>
          <p:nvPr>
            <p:ph type="pic" idx="2"/>
          </p:nvPr>
        </p:nvSpPr>
        <p:spPr>
          <a:xfrm>
            <a:off x="323528" y="1989139"/>
            <a:ext cx="4177035" cy="2736006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323850" y="4869160"/>
            <a:ext cx="4176713" cy="122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>
            <a:spLocks noGrp="1"/>
          </p:cNvSpPr>
          <p:nvPr>
            <p:ph type="pic" idx="3"/>
          </p:nvPr>
        </p:nvSpPr>
        <p:spPr>
          <a:xfrm>
            <a:off x="4643437" y="1989139"/>
            <a:ext cx="4177035" cy="2736006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3759" y="4869160"/>
            <a:ext cx="4176713" cy="122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folie">
  <p:cSld name="Bildfoli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323528" y="1"/>
            <a:ext cx="8496622" cy="5084762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323850" y="5229225"/>
            <a:ext cx="6335713" cy="863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 Gross">
  <p:cSld name="Zitat Gros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323850" y="404813"/>
            <a:ext cx="6335713" cy="568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 u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2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None/>
              <a:defRPr sz="2600" b="1"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">
  <p:cSld name="Zita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323850" y="404813"/>
            <a:ext cx="6335713" cy="568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>
  <p:cSld name="Nur Titel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323850" y="404664"/>
            <a:ext cx="6335713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schlussfolie" type="title">
  <p:cSld name="TITLE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0" y="283"/>
            <a:ext cx="9143622" cy="685743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1"/>
          <p:cNvSpPr txBox="1">
            <a:spLocks noGrp="1"/>
          </p:cNvSpPr>
          <p:nvPr>
            <p:ph type="ctrTitle"/>
          </p:nvPr>
        </p:nvSpPr>
        <p:spPr>
          <a:xfrm>
            <a:off x="323850" y="1916114"/>
            <a:ext cx="5256213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0400" anchor="b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u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1"/>
          </p:nvPr>
        </p:nvSpPr>
        <p:spPr>
          <a:xfrm>
            <a:off x="323850" y="3717032"/>
            <a:ext cx="5256213" cy="244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u="none">
                <a:solidFill>
                  <a:schemeClr val="dk1"/>
                </a:solidFill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74" name="Google Shape;7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123" y="0"/>
            <a:ext cx="3689604" cy="2023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zwei Inhalte" type="twoObj">
  <p:cSld name="TWO_OBJECT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>
            <a:off x="323850" y="404664"/>
            <a:ext cx="6335713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>
            <a:off x="323849" y="1989138"/>
            <a:ext cx="4176713" cy="41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600"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2"/>
          </p:nvPr>
        </p:nvSpPr>
        <p:spPr>
          <a:xfrm>
            <a:off x="4643438" y="1989138"/>
            <a:ext cx="4176712" cy="41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600"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Gross und zwei Inhalte">
  <p:cSld name="Titel Gross und zwei Inhalte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>
            <a:off x="323850" y="404663"/>
            <a:ext cx="6335713" cy="122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>
            <a:off x="323849" y="1989138"/>
            <a:ext cx="4176713" cy="41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600"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2"/>
          </p:nvPr>
        </p:nvSpPr>
        <p:spPr>
          <a:xfrm>
            <a:off x="4643438" y="1989138"/>
            <a:ext cx="4176712" cy="41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−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600"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 b="1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Gross und zwei Bilder">
  <p:cSld name="Titel Gross und zwei Bil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323850" y="404663"/>
            <a:ext cx="6335713" cy="122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>
            <a:spLocks noGrp="1"/>
          </p:cNvSpPr>
          <p:nvPr>
            <p:ph type="pic" idx="2"/>
          </p:nvPr>
        </p:nvSpPr>
        <p:spPr>
          <a:xfrm>
            <a:off x="323528" y="1989139"/>
            <a:ext cx="4177035" cy="2736006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323850" y="4869160"/>
            <a:ext cx="4176713" cy="122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>
            <a:spLocks noGrp="1"/>
          </p:cNvSpPr>
          <p:nvPr>
            <p:ph type="pic" idx="3"/>
          </p:nvPr>
        </p:nvSpPr>
        <p:spPr>
          <a:xfrm>
            <a:off x="4643437" y="1989139"/>
            <a:ext cx="4177035" cy="2736006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14"/>
          <p:cNvSpPr txBox="1">
            <a:spLocks noGrp="1"/>
          </p:cNvSpPr>
          <p:nvPr>
            <p:ph type="body" idx="4"/>
          </p:nvPr>
        </p:nvSpPr>
        <p:spPr>
          <a:xfrm>
            <a:off x="4643759" y="4869160"/>
            <a:ext cx="4176713" cy="122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u="sng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/>
            </a:lvl5pPr>
            <a:lvl6pPr marL="2743200" lvl="5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 Gross">
  <p:cSld name="Nur Titel Gros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323850" y="404663"/>
            <a:ext cx="6335713" cy="122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06331"/>
            <a:ext cx="851535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924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23850" y="404664"/>
            <a:ext cx="6335713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23850" y="1988840"/>
            <a:ext cx="6335713" cy="410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" name="Google Shape;12;p1"/>
          <p:cNvCxnSpPr/>
          <p:nvPr/>
        </p:nvCxnSpPr>
        <p:spPr>
          <a:xfrm>
            <a:off x="323850" y="6408378"/>
            <a:ext cx="8496622" cy="0"/>
          </a:xfrm>
          <a:prstGeom prst="straightConnector1">
            <a:avLst/>
          </a:prstGeom>
          <a:noFill/>
          <a:ln w="12700" cap="flat" cmpd="sng">
            <a:solidFill>
              <a:srgbClr val="0098D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2484438" y="6453336"/>
            <a:ext cx="3095625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038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26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5724525" y="6453336"/>
            <a:ext cx="3095947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Universität Konstanz</a:t>
            </a:r>
            <a:endParaRPr sz="7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0;p18">
            <a:extLst>
              <a:ext uri="{FF2B5EF4-FFF2-40B4-BE49-F238E27FC236}">
                <a16:creationId xmlns:a16="http://schemas.microsoft.com/office/drawing/2014/main" id="{60C135D6-21DC-B8C6-77E9-B315E840F74B}"/>
              </a:ext>
            </a:extLst>
          </p:cNvPr>
          <p:cNvSpPr/>
          <p:nvPr/>
        </p:nvSpPr>
        <p:spPr>
          <a:xfrm>
            <a:off x="378248" y="3538050"/>
            <a:ext cx="1469602" cy="716336"/>
          </a:xfrm>
          <a:prstGeom prst="rect">
            <a:avLst/>
          </a:prstGeom>
          <a:solidFill>
            <a:srgbClr val="007B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378248" y="1874850"/>
            <a:ext cx="6335700" cy="83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378248" y="2706450"/>
            <a:ext cx="5201902" cy="8299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>
            <a:spLocks noGrp="1"/>
          </p:cNvSpPr>
          <p:nvPr>
            <p:ph type="ctrTitle"/>
          </p:nvPr>
        </p:nvSpPr>
        <p:spPr>
          <a:xfrm>
            <a:off x="477050" y="2532385"/>
            <a:ext cx="6335700" cy="17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/>
          <a:p>
            <a:pPr lvl="0">
              <a:lnSpc>
                <a:spcPct val="110000"/>
              </a:lnSpc>
            </a:pPr>
            <a:r>
              <a:rPr lang="en-US" sz="4400" dirty="0"/>
              <a:t>Consensus Stability of Community Notes </a:t>
            </a:r>
            <a:br>
              <a:rPr lang="en-US" sz="4400" dirty="0"/>
            </a:br>
            <a:r>
              <a:rPr lang="en-US" sz="4400" dirty="0"/>
              <a:t>on X</a:t>
            </a:r>
            <a:endParaRPr sz="44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57EDF11-439A-789C-2394-8A7EAB29F5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/>
            <a:r>
              <a:rPr lang="de-DE" dirty="0"/>
              <a:t>Alexander He </a:t>
            </a:r>
          </a:p>
          <a:p>
            <a:pPr marL="0" lvl="0" indent="0"/>
            <a:r>
              <a:rPr lang="de-DE" b="0" u="none" dirty="0"/>
              <a:t>Konstanz, 06.05.2026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/>
        </p:nvSpPr>
        <p:spPr>
          <a:xfrm>
            <a:off x="782181" y="4742056"/>
            <a:ext cx="1919387" cy="1414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76470"/>
              </a:lnSpc>
              <a:spcBef>
                <a:spcPts val="1500"/>
              </a:spcBef>
              <a:spcAft>
                <a:spcPts val="800"/>
              </a:spcAft>
              <a:buNone/>
            </a:pPr>
            <a:r>
              <a:rPr lang="en-US" sz="2250" b="1" noProof="0" dirty="0">
                <a:solidFill>
                  <a:srgbClr val="002145"/>
                </a:solidFill>
              </a:rPr>
              <a:t>Yuwei </a:t>
            </a:r>
            <a:r>
              <a:rPr lang="en-US" sz="2250" b="1" noProof="0" dirty="0" err="1">
                <a:solidFill>
                  <a:srgbClr val="002145"/>
                </a:solidFill>
              </a:rPr>
              <a:t>Chuai</a:t>
            </a:r>
            <a:br>
              <a:rPr lang="en-US" sz="2250" b="1" noProof="0" dirty="0">
                <a:solidFill>
                  <a:srgbClr val="002145"/>
                </a:solidFill>
              </a:rPr>
            </a:br>
            <a:r>
              <a:rPr lang="en-US" sz="1200" noProof="0" dirty="0">
                <a:solidFill>
                  <a:srgbClr val="002145"/>
                </a:solidFill>
              </a:rPr>
              <a:t>(post doc researcher)</a:t>
            </a:r>
            <a:endParaRPr lang="en-US" sz="2250" noProof="0" dirty="0">
              <a:solidFill>
                <a:srgbClr val="002145"/>
              </a:solidFill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6194504" y="4740662"/>
            <a:ext cx="2616014" cy="1414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76470"/>
              </a:lnSpc>
              <a:spcBef>
                <a:spcPts val="1500"/>
              </a:spcBef>
              <a:spcAft>
                <a:spcPts val="800"/>
              </a:spcAft>
              <a:buNone/>
            </a:pPr>
            <a:r>
              <a:rPr lang="en-US" sz="2250" b="1" noProof="0" dirty="0">
                <a:solidFill>
                  <a:srgbClr val="002145"/>
                </a:solidFill>
              </a:rPr>
              <a:t>Nicolas Pröllochs</a:t>
            </a:r>
            <a:br>
              <a:rPr lang="en-US" sz="2250" b="1" noProof="0" dirty="0">
                <a:solidFill>
                  <a:srgbClr val="002145"/>
                </a:solidFill>
              </a:rPr>
            </a:br>
            <a:r>
              <a:rPr lang="en-US" sz="1200" noProof="0" dirty="0">
                <a:solidFill>
                  <a:srgbClr val="002145"/>
                </a:solidFill>
              </a:rPr>
              <a:t>(Prof.) </a:t>
            </a:r>
          </a:p>
        </p:txBody>
      </p:sp>
      <p:sp>
        <p:nvSpPr>
          <p:cNvPr id="154" name="Google Shape;154;p20"/>
          <p:cNvSpPr/>
          <p:nvPr/>
        </p:nvSpPr>
        <p:spPr>
          <a:xfrm>
            <a:off x="182300" y="187175"/>
            <a:ext cx="284070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0"/>
          <p:cNvSpPr txBox="1">
            <a:spLocks noGrp="1"/>
          </p:cNvSpPr>
          <p:nvPr>
            <p:ph type="ctrTitle"/>
          </p:nvPr>
        </p:nvSpPr>
        <p:spPr>
          <a:xfrm>
            <a:off x="218026" y="258059"/>
            <a:ext cx="30477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noProof="0" dirty="0"/>
              <a:t>Authors:</a:t>
            </a:r>
          </a:p>
        </p:txBody>
      </p:sp>
      <p:pic>
        <p:nvPicPr>
          <p:cNvPr id="2" name="Grafik 1" descr="Yuwei CHUAI - SnT - University of Luxembourg I Uni.lu">
            <a:extLst>
              <a:ext uri="{FF2B5EF4-FFF2-40B4-BE49-F238E27FC236}">
                <a16:creationId xmlns:a16="http://schemas.microsoft.com/office/drawing/2014/main" id="{BEE35B36-908C-E604-0AF6-1F8C59F8BB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51" t="519" r="14468" b="1400"/>
          <a:stretch>
            <a:fillRect/>
          </a:stretch>
        </p:blipFill>
        <p:spPr bwMode="auto">
          <a:xfrm>
            <a:off x="626963" y="1781708"/>
            <a:ext cx="2229824" cy="2832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2" descr="Gabriele LENZINI - SnT - University of Luxembourg I Uni.lu">
            <a:extLst>
              <a:ext uri="{FF2B5EF4-FFF2-40B4-BE49-F238E27FC236}">
                <a16:creationId xmlns:a16="http://schemas.microsoft.com/office/drawing/2014/main" id="{8E6E18D6-8F4A-55DD-C39C-9C0EA6F1C7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4" t="207" r="24469" b="-207"/>
          <a:stretch>
            <a:fillRect/>
          </a:stretch>
        </p:blipFill>
        <p:spPr bwMode="auto">
          <a:xfrm>
            <a:off x="3507281" y="1781708"/>
            <a:ext cx="2229824" cy="2832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rafik 3" descr="Team &amp; Kontakt — Data Science &amp; Digitalisierung (Pröllochs)">
            <a:extLst>
              <a:ext uri="{FF2B5EF4-FFF2-40B4-BE49-F238E27FC236}">
                <a16:creationId xmlns:a16="http://schemas.microsoft.com/office/drawing/2014/main" id="{609D490E-52D1-1509-D800-ACEA4317E5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2"/>
          <a:stretch>
            <a:fillRect/>
          </a:stretch>
        </p:blipFill>
        <p:spPr bwMode="auto">
          <a:xfrm>
            <a:off x="6387599" y="1781708"/>
            <a:ext cx="2229824" cy="283333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53;p20">
            <a:extLst>
              <a:ext uri="{FF2B5EF4-FFF2-40B4-BE49-F238E27FC236}">
                <a16:creationId xmlns:a16="http://schemas.microsoft.com/office/drawing/2014/main" id="{52D11503-8A8E-BD74-50D9-7D4E6DDAC758}"/>
              </a:ext>
            </a:extLst>
          </p:cNvPr>
          <p:cNvSpPr txBox="1"/>
          <p:nvPr/>
        </p:nvSpPr>
        <p:spPr>
          <a:xfrm>
            <a:off x="3263993" y="4740662"/>
            <a:ext cx="2616014" cy="1414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76470"/>
              </a:lnSpc>
              <a:spcBef>
                <a:spcPts val="1500"/>
              </a:spcBef>
              <a:spcAft>
                <a:spcPts val="800"/>
              </a:spcAft>
              <a:buNone/>
            </a:pPr>
            <a:r>
              <a:rPr lang="en-US" sz="2250" b="1" noProof="0" dirty="0">
                <a:solidFill>
                  <a:srgbClr val="002145"/>
                </a:solidFill>
              </a:rPr>
              <a:t>Gabriele Lenzini</a:t>
            </a:r>
            <a:br>
              <a:rPr lang="en-US" sz="2250" b="1" noProof="0" dirty="0">
                <a:solidFill>
                  <a:srgbClr val="002145"/>
                </a:solidFill>
              </a:rPr>
            </a:br>
            <a:r>
              <a:rPr lang="en-US" sz="1200" noProof="0" dirty="0">
                <a:solidFill>
                  <a:srgbClr val="002145"/>
                </a:solidFill>
              </a:rPr>
              <a:t>(Assoc. Prof.)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3</a:t>
            </a:fld>
            <a:endParaRPr/>
          </a:p>
        </p:txBody>
      </p:sp>
      <p:sp>
        <p:nvSpPr>
          <p:cNvPr id="186" name="Google Shape;186;p23"/>
          <p:cNvSpPr/>
          <p:nvPr/>
        </p:nvSpPr>
        <p:spPr>
          <a:xfrm>
            <a:off x="182300" y="187175"/>
            <a:ext cx="371400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3"/>
          <p:cNvSpPr txBox="1">
            <a:spLocks noGrp="1"/>
          </p:cNvSpPr>
          <p:nvPr>
            <p:ph type="ctrTitle" idx="4294967295"/>
          </p:nvPr>
        </p:nvSpPr>
        <p:spPr>
          <a:xfrm>
            <a:off x="218025" y="258050"/>
            <a:ext cx="37647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de-DE" sz="5200" u="none" dirty="0"/>
              <a:t>False Posts</a:t>
            </a:r>
            <a:endParaRPr dirty="0"/>
          </a:p>
        </p:txBody>
      </p:sp>
      <p:sp>
        <p:nvSpPr>
          <p:cNvPr id="188" name="Google Shape;188;p23"/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189" name="Google Shape;189;p23"/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ABADA68-5C04-D919-43C5-7E392480B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146" y="1145832"/>
            <a:ext cx="3645707" cy="51095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F5314447-AE0C-FC5B-A3B6-B9BDA92C1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B55A0835-1078-41EA-B2A6-50D34EAF61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4</a:t>
            </a:fld>
            <a:endParaRPr/>
          </a:p>
        </p:txBody>
      </p:sp>
      <p:sp>
        <p:nvSpPr>
          <p:cNvPr id="186" name="Google Shape;186;p23">
            <a:extLst>
              <a:ext uri="{FF2B5EF4-FFF2-40B4-BE49-F238E27FC236}">
                <a16:creationId xmlns:a16="http://schemas.microsoft.com/office/drawing/2014/main" id="{199E09CF-F551-EE77-651E-EA3F901E21AA}"/>
              </a:ext>
            </a:extLst>
          </p:cNvPr>
          <p:cNvSpPr/>
          <p:nvPr/>
        </p:nvSpPr>
        <p:spPr>
          <a:xfrm>
            <a:off x="182300" y="187175"/>
            <a:ext cx="279585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3">
            <a:extLst>
              <a:ext uri="{FF2B5EF4-FFF2-40B4-BE49-F238E27FC236}">
                <a16:creationId xmlns:a16="http://schemas.microsoft.com/office/drawing/2014/main" id="{3A370B6D-869D-E673-28AB-C08455F53E03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18025" y="258050"/>
            <a:ext cx="37647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de-DE" sz="5200" u="none" dirty="0"/>
              <a:t>The Fix?</a:t>
            </a:r>
            <a:endParaRPr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619FA1D-B44A-AF2A-8841-52D1354A1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9146" y="1214362"/>
            <a:ext cx="3645707" cy="49043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88;p23">
            <a:extLst>
              <a:ext uri="{FF2B5EF4-FFF2-40B4-BE49-F238E27FC236}">
                <a16:creationId xmlns:a16="http://schemas.microsoft.com/office/drawing/2014/main" id="{7F5C910A-43E1-16C4-74ED-A822DCD8C41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4" name="Google Shape;189;p23">
            <a:extLst>
              <a:ext uri="{FF2B5EF4-FFF2-40B4-BE49-F238E27FC236}">
                <a16:creationId xmlns:a16="http://schemas.microsoft.com/office/drawing/2014/main" id="{5516C2CD-9415-2D43-D70E-EF48842AD67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0982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14FF6549-6ED8-0E33-B9AB-14CB9F0E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2B5B4DAA-C81A-4AC0-BA8A-E8085F0906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0"/>
          <a:stretch>
            <a:fillRect/>
          </a:stretch>
        </p:blipFill>
        <p:spPr>
          <a:xfrm>
            <a:off x="85912" y="2470262"/>
            <a:ext cx="8879776" cy="1917476"/>
          </a:xfrm>
          <a:prstGeom prst="rect">
            <a:avLst/>
          </a:prstGeom>
        </p:spPr>
      </p:pic>
      <p:sp>
        <p:nvSpPr>
          <p:cNvPr id="209" name="Google Shape;209;p25">
            <a:extLst>
              <a:ext uri="{FF2B5EF4-FFF2-40B4-BE49-F238E27FC236}">
                <a16:creationId xmlns:a16="http://schemas.microsoft.com/office/drawing/2014/main" id="{9D9D0362-D279-4A42-63C6-A8781DDC92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5</a:t>
            </a:fld>
            <a:endParaRPr/>
          </a:p>
        </p:txBody>
      </p:sp>
      <p:sp>
        <p:nvSpPr>
          <p:cNvPr id="210" name="Google Shape;210;p25">
            <a:extLst>
              <a:ext uri="{FF2B5EF4-FFF2-40B4-BE49-F238E27FC236}">
                <a16:creationId xmlns:a16="http://schemas.microsoft.com/office/drawing/2014/main" id="{17F033B4-BF32-CDDA-F518-9B6E96A81BFC}"/>
              </a:ext>
            </a:extLst>
          </p:cNvPr>
          <p:cNvSpPr/>
          <p:nvPr/>
        </p:nvSpPr>
        <p:spPr>
          <a:xfrm>
            <a:off x="182300" y="187175"/>
            <a:ext cx="571685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5">
            <a:extLst>
              <a:ext uri="{FF2B5EF4-FFF2-40B4-BE49-F238E27FC236}">
                <a16:creationId xmlns:a16="http://schemas.microsoft.com/office/drawing/2014/main" id="{FF029157-8A17-19F9-AF2C-0464DE854EC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18024" y="258050"/>
            <a:ext cx="7014625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de-DE" sz="5200" u="none" dirty="0"/>
              <a:t>Community Notes</a:t>
            </a:r>
            <a:endParaRPr dirty="0"/>
          </a:p>
        </p:txBody>
      </p:sp>
      <p:sp>
        <p:nvSpPr>
          <p:cNvPr id="2" name="Google Shape;188;p23">
            <a:extLst>
              <a:ext uri="{FF2B5EF4-FFF2-40B4-BE49-F238E27FC236}">
                <a16:creationId xmlns:a16="http://schemas.microsoft.com/office/drawing/2014/main" id="{069BCF91-FBAF-2A95-AA6C-426B2A7C7D4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4" name="Google Shape;189;p23">
            <a:extLst>
              <a:ext uri="{FF2B5EF4-FFF2-40B4-BE49-F238E27FC236}">
                <a16:creationId xmlns:a16="http://schemas.microsoft.com/office/drawing/2014/main" id="{7D9550D7-36DC-621A-5D79-B563B8A622E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  <p:sp>
        <p:nvSpPr>
          <p:cNvPr id="5" name="Google Shape;184;p23">
            <a:extLst>
              <a:ext uri="{FF2B5EF4-FFF2-40B4-BE49-F238E27FC236}">
                <a16:creationId xmlns:a16="http://schemas.microsoft.com/office/drawing/2014/main" id="{876BB0BF-5361-62E9-3445-78F229D949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850" y="1475275"/>
            <a:ext cx="84039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endParaRPr lang="de-DE" sz="2400" b="1" u="sng" dirty="0"/>
          </a:p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endParaRPr sz="2400" b="1" u="sng" dirty="0"/>
          </a:p>
        </p:txBody>
      </p:sp>
      <p:sp>
        <p:nvSpPr>
          <p:cNvPr id="8" name="Google Shape;184;p23">
            <a:extLst>
              <a:ext uri="{FF2B5EF4-FFF2-40B4-BE49-F238E27FC236}">
                <a16:creationId xmlns:a16="http://schemas.microsoft.com/office/drawing/2014/main" id="{67CA4FD1-3FD8-B83F-7037-CAB065C64D7A}"/>
              </a:ext>
            </a:extLst>
          </p:cNvPr>
          <p:cNvSpPr txBox="1">
            <a:spLocks/>
          </p:cNvSpPr>
          <p:nvPr/>
        </p:nvSpPr>
        <p:spPr>
          <a:xfrm>
            <a:off x="323850" y="1475275"/>
            <a:ext cx="84039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dirty="0"/>
              <a:t>Every displayed note is the output of a rule that combines thousands of contributor ratings into one binary decision: display or don’t display</a:t>
            </a: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dirty="0"/>
              <a:t>The rule is open-source, deployed at scale, and its inputs are public </a:t>
            </a: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dirty="0"/>
              <a:t>This makes Community Notes a rare thing: a social choice mechanism we can study and test empirically </a:t>
            </a:r>
            <a:endParaRPr lang="en-US" sz="2400" b="1" u="sng" dirty="0"/>
          </a:p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endParaRPr lang="en-US" sz="2400" b="1" u="sng" dirty="0"/>
          </a:p>
        </p:txBody>
      </p:sp>
    </p:spTree>
    <p:extLst>
      <p:ext uri="{BB962C8B-B14F-4D97-AF65-F5344CB8AC3E}">
        <p14:creationId xmlns:p14="http://schemas.microsoft.com/office/powerpoint/2010/main" val="182517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5D95-B1A7-A10B-5EB5-A26C5A0AF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Four-Part Concept Puzzle – Slide Template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E9E3E3E-73D1-E90D-FAA7-8491A53B2A63}"/>
              </a:ext>
            </a:extLst>
          </p:cNvPr>
          <p:cNvSpPr/>
          <p:nvPr/>
        </p:nvSpPr>
        <p:spPr>
          <a:xfrm>
            <a:off x="2902960" y="1863865"/>
            <a:ext cx="2064263" cy="1651896"/>
          </a:xfrm>
          <a:custGeom>
            <a:avLst/>
            <a:gdLst>
              <a:gd name="connsiteX0" fmla="*/ 0 w 2752351"/>
              <a:gd name="connsiteY0" fmla="*/ 0 h 2202528"/>
              <a:gd name="connsiteX1" fmla="*/ 2202528 w 2752351"/>
              <a:gd name="connsiteY1" fmla="*/ 0 h 2202528"/>
              <a:gd name="connsiteX2" fmla="*/ 2202528 w 2752351"/>
              <a:gd name="connsiteY2" fmla="*/ 846393 h 2202528"/>
              <a:gd name="connsiteX3" fmla="*/ 2230204 w 2752351"/>
              <a:gd name="connsiteY3" fmla="*/ 823559 h 2202528"/>
              <a:gd name="connsiteX4" fmla="*/ 2417450 w 2752351"/>
              <a:gd name="connsiteY4" fmla="*/ 766363 h 2202528"/>
              <a:gd name="connsiteX5" fmla="*/ 2752351 w 2752351"/>
              <a:gd name="connsiteY5" fmla="*/ 1101264 h 2202528"/>
              <a:gd name="connsiteX6" fmla="*/ 2417450 w 2752351"/>
              <a:gd name="connsiteY6" fmla="*/ 1436165 h 2202528"/>
              <a:gd name="connsiteX7" fmla="*/ 2230204 w 2752351"/>
              <a:gd name="connsiteY7" fmla="*/ 1378969 h 2202528"/>
              <a:gd name="connsiteX8" fmla="*/ 2202528 w 2752351"/>
              <a:gd name="connsiteY8" fmla="*/ 1356135 h 2202528"/>
              <a:gd name="connsiteX9" fmla="*/ 2202528 w 2752351"/>
              <a:gd name="connsiteY9" fmla="*/ 2202528 h 2202528"/>
              <a:gd name="connsiteX10" fmla="*/ 1431824 w 2752351"/>
              <a:gd name="connsiteY10" fmla="*/ 2202528 h 2202528"/>
              <a:gd name="connsiteX11" fmla="*/ 1451973 w 2752351"/>
              <a:gd name="connsiteY11" fmla="*/ 2165406 h 2202528"/>
              <a:gd name="connsiteX12" fmla="*/ 1481884 w 2752351"/>
              <a:gd name="connsiteY12" fmla="*/ 2017251 h 2202528"/>
              <a:gd name="connsiteX13" fmla="*/ 1101264 w 2752351"/>
              <a:gd name="connsiteY13" fmla="*/ 1636631 h 2202528"/>
              <a:gd name="connsiteX14" fmla="*/ 720644 w 2752351"/>
              <a:gd name="connsiteY14" fmla="*/ 2017251 h 2202528"/>
              <a:gd name="connsiteX15" fmla="*/ 750555 w 2752351"/>
              <a:gd name="connsiteY15" fmla="*/ 2165406 h 2202528"/>
              <a:gd name="connsiteX16" fmla="*/ 770705 w 2752351"/>
              <a:gd name="connsiteY16" fmla="*/ 2202528 h 2202528"/>
              <a:gd name="connsiteX17" fmla="*/ 0 w 2752351"/>
              <a:gd name="connsiteY17" fmla="*/ 2202528 h 2202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752351" h="2202528">
                <a:moveTo>
                  <a:pt x="0" y="0"/>
                </a:moveTo>
                <a:lnTo>
                  <a:pt x="2202528" y="0"/>
                </a:lnTo>
                <a:lnTo>
                  <a:pt x="2202528" y="846393"/>
                </a:lnTo>
                <a:lnTo>
                  <a:pt x="2230204" y="823559"/>
                </a:lnTo>
                <a:cubicBezTo>
                  <a:pt x="2283654" y="787448"/>
                  <a:pt x="2348090" y="766363"/>
                  <a:pt x="2417450" y="766363"/>
                </a:cubicBezTo>
                <a:cubicBezTo>
                  <a:pt x="2602411" y="766363"/>
                  <a:pt x="2752351" y="916303"/>
                  <a:pt x="2752351" y="1101264"/>
                </a:cubicBezTo>
                <a:cubicBezTo>
                  <a:pt x="2752351" y="1286225"/>
                  <a:pt x="2602411" y="1436165"/>
                  <a:pt x="2417450" y="1436165"/>
                </a:cubicBezTo>
                <a:cubicBezTo>
                  <a:pt x="2348090" y="1436165"/>
                  <a:pt x="2283654" y="1415080"/>
                  <a:pt x="2230204" y="1378969"/>
                </a:cubicBezTo>
                <a:lnTo>
                  <a:pt x="2202528" y="1356135"/>
                </a:lnTo>
                <a:lnTo>
                  <a:pt x="2202528" y="2202528"/>
                </a:lnTo>
                <a:lnTo>
                  <a:pt x="1431824" y="2202528"/>
                </a:lnTo>
                <a:lnTo>
                  <a:pt x="1451973" y="2165406"/>
                </a:lnTo>
                <a:cubicBezTo>
                  <a:pt x="1471234" y="2119869"/>
                  <a:pt x="1481884" y="2069804"/>
                  <a:pt x="1481884" y="2017251"/>
                </a:cubicBezTo>
                <a:cubicBezTo>
                  <a:pt x="1481884" y="1807040"/>
                  <a:pt x="1311475" y="1636631"/>
                  <a:pt x="1101264" y="1636631"/>
                </a:cubicBezTo>
                <a:cubicBezTo>
                  <a:pt x="891053" y="1636631"/>
                  <a:pt x="720644" y="1807040"/>
                  <a:pt x="720644" y="2017251"/>
                </a:cubicBezTo>
                <a:cubicBezTo>
                  <a:pt x="720644" y="2069804"/>
                  <a:pt x="731295" y="2119869"/>
                  <a:pt x="750555" y="2165406"/>
                </a:cubicBezTo>
                <a:lnTo>
                  <a:pt x="770705" y="2202528"/>
                </a:lnTo>
                <a:lnTo>
                  <a:pt x="0" y="220252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2B51110-1BA1-D2EC-7566-06FD68C9D781}"/>
              </a:ext>
            </a:extLst>
          </p:cNvPr>
          <p:cNvSpPr/>
          <p:nvPr/>
        </p:nvSpPr>
        <p:spPr>
          <a:xfrm>
            <a:off x="4589145" y="1863865"/>
            <a:ext cx="1651895" cy="2076319"/>
          </a:xfrm>
          <a:custGeom>
            <a:avLst/>
            <a:gdLst>
              <a:gd name="connsiteX0" fmla="*/ 0 w 2202526"/>
              <a:gd name="connsiteY0" fmla="*/ 0 h 2768425"/>
              <a:gd name="connsiteX1" fmla="*/ 2202526 w 2202526"/>
              <a:gd name="connsiteY1" fmla="*/ 0 h 2768425"/>
              <a:gd name="connsiteX2" fmla="*/ 2202526 w 2202526"/>
              <a:gd name="connsiteY2" fmla="*/ 2202528 h 2768425"/>
              <a:gd name="connsiteX3" fmla="*/ 1342872 w 2202526"/>
              <a:gd name="connsiteY3" fmla="*/ 2202528 h 2768425"/>
              <a:gd name="connsiteX4" fmla="*/ 1378968 w 2202526"/>
              <a:gd name="connsiteY4" fmla="*/ 2246278 h 2768425"/>
              <a:gd name="connsiteX5" fmla="*/ 1436164 w 2202526"/>
              <a:gd name="connsiteY5" fmla="*/ 2433524 h 2768425"/>
              <a:gd name="connsiteX6" fmla="*/ 1101263 w 2202526"/>
              <a:gd name="connsiteY6" fmla="*/ 2768425 h 2768425"/>
              <a:gd name="connsiteX7" fmla="*/ 766362 w 2202526"/>
              <a:gd name="connsiteY7" fmla="*/ 2433524 h 2768425"/>
              <a:gd name="connsiteX8" fmla="*/ 823558 w 2202526"/>
              <a:gd name="connsiteY8" fmla="*/ 2246278 h 2768425"/>
              <a:gd name="connsiteX9" fmla="*/ 859655 w 2202526"/>
              <a:gd name="connsiteY9" fmla="*/ 2202528 h 2768425"/>
              <a:gd name="connsiteX10" fmla="*/ 0 w 2202526"/>
              <a:gd name="connsiteY10" fmla="*/ 2202528 h 2768425"/>
              <a:gd name="connsiteX11" fmla="*/ 0 w 2202526"/>
              <a:gd name="connsiteY11" fmla="*/ 1440549 h 2768425"/>
              <a:gd name="connsiteX12" fmla="*/ 21049 w 2202526"/>
              <a:gd name="connsiteY12" fmla="*/ 1451973 h 2768425"/>
              <a:gd name="connsiteX13" fmla="*/ 169203 w 2202526"/>
              <a:gd name="connsiteY13" fmla="*/ 1481884 h 2768425"/>
              <a:gd name="connsiteX14" fmla="*/ 549823 w 2202526"/>
              <a:gd name="connsiteY14" fmla="*/ 1101264 h 2768425"/>
              <a:gd name="connsiteX15" fmla="*/ 169203 w 2202526"/>
              <a:gd name="connsiteY15" fmla="*/ 720644 h 2768425"/>
              <a:gd name="connsiteX16" fmla="*/ 21049 w 2202526"/>
              <a:gd name="connsiteY16" fmla="*/ 750555 h 2768425"/>
              <a:gd name="connsiteX17" fmla="*/ 0 w 2202526"/>
              <a:gd name="connsiteY17" fmla="*/ 761980 h 2768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02526" h="2768425">
                <a:moveTo>
                  <a:pt x="0" y="0"/>
                </a:moveTo>
                <a:lnTo>
                  <a:pt x="2202526" y="0"/>
                </a:lnTo>
                <a:lnTo>
                  <a:pt x="2202526" y="2202528"/>
                </a:lnTo>
                <a:lnTo>
                  <a:pt x="1342872" y="2202528"/>
                </a:lnTo>
                <a:lnTo>
                  <a:pt x="1378968" y="2246278"/>
                </a:lnTo>
                <a:cubicBezTo>
                  <a:pt x="1415079" y="2299728"/>
                  <a:pt x="1436164" y="2364164"/>
                  <a:pt x="1436164" y="2433524"/>
                </a:cubicBezTo>
                <a:cubicBezTo>
                  <a:pt x="1436164" y="2618485"/>
                  <a:pt x="1286224" y="2768425"/>
                  <a:pt x="1101263" y="2768425"/>
                </a:cubicBezTo>
                <a:cubicBezTo>
                  <a:pt x="916302" y="2768425"/>
                  <a:pt x="766362" y="2618485"/>
                  <a:pt x="766362" y="2433524"/>
                </a:cubicBezTo>
                <a:cubicBezTo>
                  <a:pt x="766362" y="2364164"/>
                  <a:pt x="787448" y="2299728"/>
                  <a:pt x="823558" y="2246278"/>
                </a:cubicBezTo>
                <a:lnTo>
                  <a:pt x="859655" y="2202528"/>
                </a:lnTo>
                <a:lnTo>
                  <a:pt x="0" y="2202528"/>
                </a:lnTo>
                <a:lnTo>
                  <a:pt x="0" y="1440549"/>
                </a:lnTo>
                <a:lnTo>
                  <a:pt x="21049" y="1451973"/>
                </a:lnTo>
                <a:cubicBezTo>
                  <a:pt x="66585" y="1471234"/>
                  <a:pt x="116651" y="1481884"/>
                  <a:pt x="169203" y="1481884"/>
                </a:cubicBezTo>
                <a:cubicBezTo>
                  <a:pt x="379414" y="1481884"/>
                  <a:pt x="549823" y="1311475"/>
                  <a:pt x="549823" y="1101264"/>
                </a:cubicBezTo>
                <a:cubicBezTo>
                  <a:pt x="549823" y="891053"/>
                  <a:pt x="379414" y="720644"/>
                  <a:pt x="169203" y="720644"/>
                </a:cubicBezTo>
                <a:cubicBezTo>
                  <a:pt x="116651" y="720644"/>
                  <a:pt x="66585" y="731295"/>
                  <a:pt x="21049" y="750555"/>
                </a:cubicBezTo>
                <a:lnTo>
                  <a:pt x="0" y="76198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5CA1AC9-8204-7717-4344-B2A5A9E0C4C1}"/>
              </a:ext>
            </a:extLst>
          </p:cNvPr>
          <p:cNvSpPr/>
          <p:nvPr/>
        </p:nvSpPr>
        <p:spPr>
          <a:xfrm>
            <a:off x="2902960" y="3125628"/>
            <a:ext cx="1651896" cy="2076317"/>
          </a:xfrm>
          <a:custGeom>
            <a:avLst/>
            <a:gdLst>
              <a:gd name="connsiteX0" fmla="*/ 1101264 w 2202528"/>
              <a:gd name="connsiteY0" fmla="*/ 0 h 2768423"/>
              <a:gd name="connsiteX1" fmla="*/ 1436165 w 2202528"/>
              <a:gd name="connsiteY1" fmla="*/ 334901 h 2768423"/>
              <a:gd name="connsiteX2" fmla="*/ 1378969 w 2202528"/>
              <a:gd name="connsiteY2" fmla="*/ 522147 h 2768423"/>
              <a:gd name="connsiteX3" fmla="*/ 1342873 w 2202528"/>
              <a:gd name="connsiteY3" fmla="*/ 565897 h 2768423"/>
              <a:gd name="connsiteX4" fmla="*/ 2202528 w 2202528"/>
              <a:gd name="connsiteY4" fmla="*/ 565897 h 2768423"/>
              <a:gd name="connsiteX5" fmla="*/ 2202528 w 2202528"/>
              <a:gd name="connsiteY5" fmla="*/ 1329944 h 2768423"/>
              <a:gd name="connsiteX6" fmla="*/ 2177669 w 2202528"/>
              <a:gd name="connsiteY6" fmla="*/ 1316451 h 2768423"/>
              <a:gd name="connsiteX7" fmla="*/ 2029514 w 2202528"/>
              <a:gd name="connsiteY7" fmla="*/ 1286540 h 2768423"/>
              <a:gd name="connsiteX8" fmla="*/ 1648894 w 2202528"/>
              <a:gd name="connsiteY8" fmla="*/ 1667160 h 2768423"/>
              <a:gd name="connsiteX9" fmla="*/ 2029514 w 2202528"/>
              <a:gd name="connsiteY9" fmla="*/ 2047780 h 2768423"/>
              <a:gd name="connsiteX10" fmla="*/ 2177669 w 2202528"/>
              <a:gd name="connsiteY10" fmla="*/ 2017869 h 2768423"/>
              <a:gd name="connsiteX11" fmla="*/ 2202528 w 2202528"/>
              <a:gd name="connsiteY11" fmla="*/ 2004376 h 2768423"/>
              <a:gd name="connsiteX12" fmla="*/ 2202528 w 2202528"/>
              <a:gd name="connsiteY12" fmla="*/ 2768423 h 2768423"/>
              <a:gd name="connsiteX13" fmla="*/ 0 w 2202528"/>
              <a:gd name="connsiteY13" fmla="*/ 2768423 h 2768423"/>
              <a:gd name="connsiteX14" fmla="*/ 0 w 2202528"/>
              <a:gd name="connsiteY14" fmla="*/ 565897 h 2768423"/>
              <a:gd name="connsiteX15" fmla="*/ 859656 w 2202528"/>
              <a:gd name="connsiteY15" fmla="*/ 565897 h 2768423"/>
              <a:gd name="connsiteX16" fmla="*/ 823559 w 2202528"/>
              <a:gd name="connsiteY16" fmla="*/ 522147 h 2768423"/>
              <a:gd name="connsiteX17" fmla="*/ 766363 w 2202528"/>
              <a:gd name="connsiteY17" fmla="*/ 334901 h 2768423"/>
              <a:gd name="connsiteX18" fmla="*/ 1101264 w 2202528"/>
              <a:gd name="connsiteY18" fmla="*/ 0 h 276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202528" h="2768423">
                <a:moveTo>
                  <a:pt x="1101264" y="0"/>
                </a:moveTo>
                <a:cubicBezTo>
                  <a:pt x="1286225" y="0"/>
                  <a:pt x="1436165" y="149940"/>
                  <a:pt x="1436165" y="334901"/>
                </a:cubicBezTo>
                <a:cubicBezTo>
                  <a:pt x="1436165" y="404261"/>
                  <a:pt x="1415080" y="468697"/>
                  <a:pt x="1378969" y="522147"/>
                </a:cubicBezTo>
                <a:lnTo>
                  <a:pt x="1342873" y="565897"/>
                </a:lnTo>
                <a:lnTo>
                  <a:pt x="2202528" y="565897"/>
                </a:lnTo>
                <a:lnTo>
                  <a:pt x="2202528" y="1329944"/>
                </a:lnTo>
                <a:lnTo>
                  <a:pt x="2177669" y="1316451"/>
                </a:lnTo>
                <a:cubicBezTo>
                  <a:pt x="2132132" y="1297191"/>
                  <a:pt x="2082067" y="1286540"/>
                  <a:pt x="2029514" y="1286540"/>
                </a:cubicBezTo>
                <a:cubicBezTo>
                  <a:pt x="1819303" y="1286540"/>
                  <a:pt x="1648894" y="1456949"/>
                  <a:pt x="1648894" y="1667160"/>
                </a:cubicBezTo>
                <a:cubicBezTo>
                  <a:pt x="1648894" y="1877371"/>
                  <a:pt x="1819303" y="2047780"/>
                  <a:pt x="2029514" y="2047780"/>
                </a:cubicBezTo>
                <a:cubicBezTo>
                  <a:pt x="2082067" y="2047780"/>
                  <a:pt x="2132132" y="2037130"/>
                  <a:pt x="2177669" y="2017869"/>
                </a:cubicBezTo>
                <a:lnTo>
                  <a:pt x="2202528" y="2004376"/>
                </a:lnTo>
                <a:lnTo>
                  <a:pt x="2202528" y="2768423"/>
                </a:lnTo>
                <a:lnTo>
                  <a:pt x="0" y="2768423"/>
                </a:lnTo>
                <a:lnTo>
                  <a:pt x="0" y="565897"/>
                </a:lnTo>
                <a:lnTo>
                  <a:pt x="859656" y="565897"/>
                </a:lnTo>
                <a:lnTo>
                  <a:pt x="823559" y="522147"/>
                </a:lnTo>
                <a:cubicBezTo>
                  <a:pt x="787449" y="468697"/>
                  <a:pt x="766363" y="404261"/>
                  <a:pt x="766363" y="334901"/>
                </a:cubicBezTo>
                <a:cubicBezTo>
                  <a:pt x="766363" y="149940"/>
                  <a:pt x="916303" y="0"/>
                  <a:pt x="110126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E1DC302-C746-8896-A9C7-B200D8B10EA7}"/>
              </a:ext>
            </a:extLst>
          </p:cNvPr>
          <p:cNvSpPr/>
          <p:nvPr/>
        </p:nvSpPr>
        <p:spPr>
          <a:xfrm>
            <a:off x="4173920" y="3550050"/>
            <a:ext cx="2067120" cy="1651895"/>
          </a:xfrm>
          <a:custGeom>
            <a:avLst/>
            <a:gdLst>
              <a:gd name="connsiteX0" fmla="*/ 553634 w 2756160"/>
              <a:gd name="connsiteY0" fmla="*/ 0 h 2202526"/>
              <a:gd name="connsiteX1" fmla="*/ 1324338 w 2756160"/>
              <a:gd name="connsiteY1" fmla="*/ 0 h 2202526"/>
              <a:gd name="connsiteX2" fmla="*/ 1304188 w 2756160"/>
              <a:gd name="connsiteY2" fmla="*/ 37123 h 2202526"/>
              <a:gd name="connsiteX3" fmla="*/ 1274277 w 2756160"/>
              <a:gd name="connsiteY3" fmla="*/ 185277 h 2202526"/>
              <a:gd name="connsiteX4" fmla="*/ 1654897 w 2756160"/>
              <a:gd name="connsiteY4" fmla="*/ 565897 h 2202526"/>
              <a:gd name="connsiteX5" fmla="*/ 2035517 w 2756160"/>
              <a:gd name="connsiteY5" fmla="*/ 185277 h 2202526"/>
              <a:gd name="connsiteX6" fmla="*/ 2005606 w 2756160"/>
              <a:gd name="connsiteY6" fmla="*/ 37123 h 2202526"/>
              <a:gd name="connsiteX7" fmla="*/ 1985457 w 2756160"/>
              <a:gd name="connsiteY7" fmla="*/ 0 h 2202526"/>
              <a:gd name="connsiteX8" fmla="*/ 2756160 w 2756160"/>
              <a:gd name="connsiteY8" fmla="*/ 0 h 2202526"/>
              <a:gd name="connsiteX9" fmla="*/ 2756160 w 2756160"/>
              <a:gd name="connsiteY9" fmla="*/ 2202526 h 2202526"/>
              <a:gd name="connsiteX10" fmla="*/ 553634 w 2756160"/>
              <a:gd name="connsiteY10" fmla="*/ 2202526 h 2202526"/>
              <a:gd name="connsiteX11" fmla="*/ 553634 w 2756160"/>
              <a:gd name="connsiteY11" fmla="*/ 1352990 h 2202526"/>
              <a:gd name="connsiteX12" fmla="*/ 522147 w 2756160"/>
              <a:gd name="connsiteY12" fmla="*/ 1378969 h 2202526"/>
              <a:gd name="connsiteX13" fmla="*/ 334901 w 2756160"/>
              <a:gd name="connsiteY13" fmla="*/ 1436164 h 2202526"/>
              <a:gd name="connsiteX14" fmla="*/ 0 w 2756160"/>
              <a:gd name="connsiteY14" fmla="*/ 1101263 h 2202526"/>
              <a:gd name="connsiteX15" fmla="*/ 334901 w 2756160"/>
              <a:gd name="connsiteY15" fmla="*/ 766362 h 2202526"/>
              <a:gd name="connsiteX16" fmla="*/ 522147 w 2756160"/>
              <a:gd name="connsiteY16" fmla="*/ 823558 h 2202526"/>
              <a:gd name="connsiteX17" fmla="*/ 553634 w 2756160"/>
              <a:gd name="connsiteY17" fmla="*/ 849537 h 220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756160" h="2202526">
                <a:moveTo>
                  <a:pt x="553634" y="0"/>
                </a:moveTo>
                <a:lnTo>
                  <a:pt x="1324338" y="0"/>
                </a:lnTo>
                <a:lnTo>
                  <a:pt x="1304188" y="37123"/>
                </a:lnTo>
                <a:cubicBezTo>
                  <a:pt x="1284928" y="82659"/>
                  <a:pt x="1274277" y="132724"/>
                  <a:pt x="1274277" y="185277"/>
                </a:cubicBezTo>
                <a:cubicBezTo>
                  <a:pt x="1274277" y="395488"/>
                  <a:pt x="1444686" y="565897"/>
                  <a:pt x="1654897" y="565897"/>
                </a:cubicBezTo>
                <a:cubicBezTo>
                  <a:pt x="1865108" y="565897"/>
                  <a:pt x="2035517" y="395488"/>
                  <a:pt x="2035517" y="185277"/>
                </a:cubicBezTo>
                <a:cubicBezTo>
                  <a:pt x="2035517" y="132724"/>
                  <a:pt x="2024867" y="82659"/>
                  <a:pt x="2005606" y="37123"/>
                </a:cubicBezTo>
                <a:lnTo>
                  <a:pt x="1985457" y="0"/>
                </a:lnTo>
                <a:lnTo>
                  <a:pt x="2756160" y="0"/>
                </a:lnTo>
                <a:lnTo>
                  <a:pt x="2756160" y="2202526"/>
                </a:lnTo>
                <a:lnTo>
                  <a:pt x="553634" y="2202526"/>
                </a:lnTo>
                <a:lnTo>
                  <a:pt x="553634" y="1352990"/>
                </a:lnTo>
                <a:lnTo>
                  <a:pt x="522147" y="1378969"/>
                </a:lnTo>
                <a:cubicBezTo>
                  <a:pt x="468697" y="1415079"/>
                  <a:pt x="404261" y="1436164"/>
                  <a:pt x="334901" y="1436164"/>
                </a:cubicBezTo>
                <a:cubicBezTo>
                  <a:pt x="149940" y="1436164"/>
                  <a:pt x="0" y="1286224"/>
                  <a:pt x="0" y="1101263"/>
                </a:cubicBezTo>
                <a:cubicBezTo>
                  <a:pt x="0" y="916302"/>
                  <a:pt x="149940" y="766362"/>
                  <a:pt x="334901" y="766362"/>
                </a:cubicBezTo>
                <a:cubicBezTo>
                  <a:pt x="404261" y="766362"/>
                  <a:pt x="468697" y="787448"/>
                  <a:pt x="522147" y="823558"/>
                </a:cubicBezTo>
                <a:lnTo>
                  <a:pt x="553634" y="84953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E2A831-C930-E43C-1628-461DAE4BB14D}"/>
              </a:ext>
            </a:extLst>
          </p:cNvPr>
          <p:cNvGrpSpPr/>
          <p:nvPr/>
        </p:nvGrpSpPr>
        <p:grpSpPr>
          <a:xfrm>
            <a:off x="6595240" y="3724323"/>
            <a:ext cx="2194560" cy="952227"/>
            <a:chOff x="8921977" y="2875429"/>
            <a:chExt cx="2926080" cy="126963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AA0279B-55BC-1EC1-B384-2D3DDCCE9EDA}"/>
                </a:ext>
              </a:extLst>
            </p:cNvPr>
            <p:cNvSpPr txBox="1"/>
            <p:nvPr/>
          </p:nvSpPr>
          <p:spPr>
            <a:xfrm>
              <a:off x="8921977" y="2875429"/>
              <a:ext cx="2926080" cy="53348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000" b="1" noProof="1">
                  <a:solidFill>
                    <a:schemeClr val="accent4">
                      <a:lumMod val="75000"/>
                    </a:schemeClr>
                  </a:solidFill>
                </a:rPr>
                <a:t>Bridging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C9FD71D-BE23-DE83-32EC-A613B3FA22C6}"/>
                </a:ext>
              </a:extLst>
            </p:cNvPr>
            <p:cNvSpPr txBox="1"/>
            <p:nvPr/>
          </p:nvSpPr>
          <p:spPr>
            <a:xfrm>
              <a:off x="8921977" y="3406401"/>
              <a:ext cx="2926080" cy="738664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000" dirty="0"/>
                <a:t>one specific aggregation rule: surface notes only when raters with opposing viewpoints agree</a:t>
              </a:r>
              <a:endParaRPr lang="en-US" sz="10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95186D5-DD55-9875-178D-09A06D332283}"/>
              </a:ext>
            </a:extLst>
          </p:cNvPr>
          <p:cNvGrpSpPr/>
          <p:nvPr/>
        </p:nvGrpSpPr>
        <p:grpSpPr>
          <a:xfrm>
            <a:off x="354200" y="3724323"/>
            <a:ext cx="2347518" cy="798339"/>
            <a:chOff x="332936" y="2875429"/>
            <a:chExt cx="3130024" cy="106445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D62A73D-DB36-2A76-52A1-BFCD1340807A}"/>
                </a:ext>
              </a:extLst>
            </p:cNvPr>
            <p:cNvSpPr txBox="1"/>
            <p:nvPr/>
          </p:nvSpPr>
          <p:spPr>
            <a:xfrm>
              <a:off x="332936" y="2875429"/>
              <a:ext cx="2926080" cy="53348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</a:rPr>
                <a:t>Aggregation rule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EF485C0-1957-7BD8-6CF7-ED4DD660CF02}"/>
                </a:ext>
              </a:extLst>
            </p:cNvPr>
            <p:cNvSpPr txBox="1"/>
            <p:nvPr/>
          </p:nvSpPr>
          <p:spPr>
            <a:xfrm>
              <a:off x="536880" y="3406401"/>
              <a:ext cx="2926080" cy="53348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000" dirty="0"/>
                <a:t>how individual ratings become one displayed outcome</a:t>
              </a:r>
              <a:endParaRPr lang="en-US" sz="10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3B99384-C4F2-1F8F-B7AB-D9923ECB6C7D}"/>
              </a:ext>
            </a:extLst>
          </p:cNvPr>
          <p:cNvGrpSpPr/>
          <p:nvPr/>
        </p:nvGrpSpPr>
        <p:grpSpPr>
          <a:xfrm>
            <a:off x="6595240" y="2076956"/>
            <a:ext cx="2194560" cy="644449"/>
            <a:chOff x="8921977" y="1170336"/>
            <a:chExt cx="2926080" cy="85926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04D1903-95AA-B21D-5CC6-69CD4AE3F4CA}"/>
                </a:ext>
              </a:extLst>
            </p:cNvPr>
            <p:cNvSpPr txBox="1"/>
            <p:nvPr/>
          </p:nvSpPr>
          <p:spPr>
            <a:xfrm>
              <a:off x="8921977" y="1170336"/>
              <a:ext cx="2926080" cy="53348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000" b="1" noProof="1">
                  <a:solidFill>
                    <a:schemeClr val="accent2">
                      <a:lumMod val="75000"/>
                    </a:schemeClr>
                  </a:solidFill>
                </a:rPr>
                <a:t>Crowdsourcing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603FAE9-8F7D-741E-2726-9059AA50FE55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328294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de-DE" sz="1000" dirty="0"/>
                <a:t>Community-</a:t>
              </a:r>
              <a:r>
                <a:rPr lang="de-DE" sz="1000" dirty="0" err="1"/>
                <a:t>driven</a:t>
              </a:r>
              <a:r>
                <a:rPr lang="de-DE" sz="1000" dirty="0"/>
                <a:t> </a:t>
              </a:r>
              <a:r>
                <a:rPr lang="de-DE" sz="1000" dirty="0" err="1"/>
                <a:t>fact-checking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96B850E-03F7-9209-7464-F333664D3EFC}"/>
              </a:ext>
            </a:extLst>
          </p:cNvPr>
          <p:cNvGrpSpPr/>
          <p:nvPr/>
        </p:nvGrpSpPr>
        <p:grpSpPr>
          <a:xfrm>
            <a:off x="354200" y="2076958"/>
            <a:ext cx="2667569" cy="653272"/>
            <a:chOff x="332936" y="2555951"/>
            <a:chExt cx="3556759" cy="87102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4C63271-2358-34FE-B38B-DF6A49C795AA}"/>
                </a:ext>
              </a:extLst>
            </p:cNvPr>
            <p:cNvSpPr txBox="1"/>
            <p:nvPr/>
          </p:nvSpPr>
          <p:spPr>
            <a:xfrm>
              <a:off x="332936" y="2555951"/>
              <a:ext cx="2926080" cy="53348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en-US" sz="2000" b="1" noProof="1">
                  <a:solidFill>
                    <a:schemeClr val="accent1">
                      <a:lumMod val="75000"/>
                    </a:schemeClr>
                  </a:solidFill>
                </a:rPr>
                <a:t>Fact-checking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F6C0519-A3B0-0600-B723-CAE76EF7A61A}"/>
                </a:ext>
              </a:extLst>
            </p:cNvPr>
            <p:cNvSpPr txBox="1"/>
            <p:nvPr/>
          </p:nvSpPr>
          <p:spPr>
            <a:xfrm>
              <a:off x="963615" y="3098685"/>
              <a:ext cx="2926080" cy="328294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de-DE" sz="1000" dirty="0" err="1"/>
                <a:t>verifying</a:t>
              </a:r>
              <a:r>
                <a:rPr lang="de-DE" sz="1000" dirty="0"/>
                <a:t> and </a:t>
              </a:r>
              <a:r>
                <a:rPr lang="de-DE" sz="1000" dirty="0" err="1"/>
                <a:t>evaluating</a:t>
              </a:r>
              <a:r>
                <a:rPr lang="de-DE" sz="1000" dirty="0"/>
                <a:t> </a:t>
              </a:r>
              <a:r>
                <a:rPr lang="de-DE" sz="1000" dirty="0" err="1"/>
                <a:t>claims</a:t>
              </a:r>
              <a:endParaRPr lang="en-US" sz="10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24" name="Graphic 23" descr="Gears with solid fill">
            <a:extLst>
              <a:ext uri="{FF2B5EF4-FFF2-40B4-BE49-F238E27FC236}">
                <a16:creationId xmlns:a16="http://schemas.microsoft.com/office/drawing/2014/main" id="{CFBAF5B9-7058-FC32-3517-8CEBBBD03E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24916" y="3969366"/>
            <a:ext cx="805500" cy="805500"/>
          </a:xfrm>
          <a:prstGeom prst="rect">
            <a:avLst/>
          </a:prstGeom>
        </p:spPr>
      </p:pic>
      <p:sp>
        <p:nvSpPr>
          <p:cNvPr id="21" name="Rounded Rectangle 5">
            <a:extLst>
              <a:ext uri="{FF2B5EF4-FFF2-40B4-BE49-F238E27FC236}">
                <a16:creationId xmlns:a16="http://schemas.microsoft.com/office/drawing/2014/main" id="{A789B4A2-C065-6CE7-C332-1011B338DC2E}"/>
              </a:ext>
            </a:extLst>
          </p:cNvPr>
          <p:cNvSpPr/>
          <p:nvPr/>
        </p:nvSpPr>
        <p:spPr>
          <a:xfrm flipH="1">
            <a:off x="5215829" y="4163786"/>
            <a:ext cx="636143" cy="57860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463783F0-532B-0C40-835A-6B4BCE54B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7326" y="2295662"/>
            <a:ext cx="603164" cy="603164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41F98110-D4B2-588A-E32E-E85A69307C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7520" y="2244561"/>
            <a:ext cx="727185" cy="63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489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9AA2D61E-C066-138D-D3C4-51E0D07C0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10;p25">
            <a:extLst>
              <a:ext uri="{FF2B5EF4-FFF2-40B4-BE49-F238E27FC236}">
                <a16:creationId xmlns:a16="http://schemas.microsoft.com/office/drawing/2014/main" id="{2731A24B-C6E1-91E8-3068-C173257EE2E7}"/>
              </a:ext>
            </a:extLst>
          </p:cNvPr>
          <p:cNvSpPr/>
          <p:nvPr/>
        </p:nvSpPr>
        <p:spPr>
          <a:xfrm>
            <a:off x="182300" y="187175"/>
            <a:ext cx="8094126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3">
            <a:extLst>
              <a:ext uri="{FF2B5EF4-FFF2-40B4-BE49-F238E27FC236}">
                <a16:creationId xmlns:a16="http://schemas.microsoft.com/office/drawing/2014/main" id="{02865B57-1E8F-6D24-EE44-70A122E6A18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18024" y="258050"/>
            <a:ext cx="8094126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/>
          <a:p>
            <a:pPr lvl="0">
              <a:lnSpc>
                <a:spcPct val="105000"/>
              </a:lnSpc>
              <a:buSzPts val="5200"/>
            </a:pPr>
            <a:r>
              <a:rPr lang="de-DE" sz="5400" dirty="0" err="1"/>
              <a:t>Bridging</a:t>
            </a:r>
            <a:r>
              <a:rPr lang="de-DE" sz="5400" dirty="0"/>
              <a:t> ≠ </a:t>
            </a:r>
            <a:r>
              <a:rPr lang="de-DE" sz="5400" dirty="0" err="1"/>
              <a:t>Majority</a:t>
            </a:r>
            <a:r>
              <a:rPr lang="de-DE" sz="5400" dirty="0"/>
              <a:t> Rule</a:t>
            </a:r>
            <a:endParaRPr sz="5200" dirty="0"/>
          </a:p>
        </p:txBody>
      </p:sp>
      <p:sp>
        <p:nvSpPr>
          <p:cNvPr id="184" name="Google Shape;184;p23">
            <a:extLst>
              <a:ext uri="{FF2B5EF4-FFF2-40B4-BE49-F238E27FC236}">
                <a16:creationId xmlns:a16="http://schemas.microsoft.com/office/drawing/2014/main" id="{1125F3B9-1A31-E067-D689-2D779CDC8D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849" y="4643704"/>
            <a:ext cx="8403900" cy="1096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1800" dirty="0"/>
              <a:t>Bridging encodes a normative claim that cross-viewpoint agreement is more legitimate than within-group consensus</a:t>
            </a: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1800" dirty="0"/>
              <a:t>However: Instrumental fairness for accurate, trusted fact-checks instead of towards participants</a:t>
            </a:r>
            <a:endParaRPr sz="1800" b="1" u="sng" dirty="0"/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587D230B-578B-4133-3EF0-1A56F2E149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7</a:t>
            </a:fld>
            <a:endParaRPr/>
          </a:p>
        </p:txBody>
      </p:sp>
      <p:sp>
        <p:nvSpPr>
          <p:cNvPr id="2" name="Google Shape;188;p23">
            <a:extLst>
              <a:ext uri="{FF2B5EF4-FFF2-40B4-BE49-F238E27FC236}">
                <a16:creationId xmlns:a16="http://schemas.microsoft.com/office/drawing/2014/main" id="{944DC652-6605-25CB-D478-69D4D82296F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3" name="Google Shape;189;p23">
            <a:extLst>
              <a:ext uri="{FF2B5EF4-FFF2-40B4-BE49-F238E27FC236}">
                <a16:creationId xmlns:a16="http://schemas.microsoft.com/office/drawing/2014/main" id="{3661826D-DD14-C52B-458A-D829E4433B9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13D5DBC2-EF1B-821E-D8AC-D89D23B175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253388"/>
              </p:ext>
            </p:extLst>
          </p:nvPr>
        </p:nvGraphicFramePr>
        <p:xfrm>
          <a:off x="323849" y="1308847"/>
          <a:ext cx="8403900" cy="311111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4201950">
                  <a:extLst>
                    <a:ext uri="{9D8B030D-6E8A-4147-A177-3AD203B41FA5}">
                      <a16:colId xmlns:a16="http://schemas.microsoft.com/office/drawing/2014/main" val="1671581379"/>
                    </a:ext>
                  </a:extLst>
                </a:gridCol>
                <a:gridCol w="4201950">
                  <a:extLst>
                    <a:ext uri="{9D8B030D-6E8A-4147-A177-3AD203B41FA5}">
                      <a16:colId xmlns:a16="http://schemas.microsoft.com/office/drawing/2014/main" val="3871104839"/>
                    </a:ext>
                  </a:extLst>
                </a:gridCol>
              </a:tblGrid>
              <a:tr h="4148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600" b="1" dirty="0" err="1"/>
                        <a:t>Majority</a:t>
                      </a:r>
                      <a:r>
                        <a:rPr lang="de-DE" sz="1600" b="1" dirty="0"/>
                        <a:t> </a:t>
                      </a:r>
                      <a:r>
                        <a:rPr lang="de-DE" sz="1600" b="1" dirty="0" err="1"/>
                        <a:t>rule</a:t>
                      </a:r>
                      <a:endParaRPr lang="de-DE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600" b="1" dirty="0" err="1"/>
                        <a:t>Bridging</a:t>
                      </a:r>
                      <a:r>
                        <a:rPr lang="de-DE" sz="1600" b="1" dirty="0"/>
                        <a:t> </a:t>
                      </a:r>
                      <a:r>
                        <a:rPr lang="de-DE" sz="1600" b="1" dirty="0" err="1"/>
                        <a:t>rule</a:t>
                      </a:r>
                      <a:endParaRPr lang="de-DE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3145176"/>
                  </a:ext>
                </a:extLst>
              </a:tr>
              <a:tr h="995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Surface a note if &gt;50% of raters find it helpful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Surface a note only if raters with opposing viewpoints agree it is helpful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0073574"/>
                  </a:ext>
                </a:extLst>
              </a:tr>
              <a:tr h="705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Optimizes for: how many people agree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Optimizes for: agreement across the ideological groups; </a:t>
                      </a:r>
                      <a:r>
                        <a:rPr lang="en-US" sz="1400" b="1" u="sng" dirty="0"/>
                        <a:t>not</a:t>
                      </a:r>
                      <a:r>
                        <a:rPr lang="en-US" sz="1400" dirty="0"/>
                        <a:t> legally protected subgroups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393410"/>
                  </a:ext>
                </a:extLst>
              </a:tr>
              <a:tr h="995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90 left-leaning </a:t>
                      </a:r>
                      <a:r>
                        <a:rPr lang="en-US" sz="1400" b="1" dirty="0"/>
                        <a:t>(+)</a:t>
                      </a:r>
                      <a:r>
                        <a:rPr lang="en-US" sz="1400" dirty="0"/>
                        <a:t> and 10 right-leaning </a:t>
                      </a:r>
                      <a:r>
                        <a:rPr lang="en-US" sz="1400" b="1" dirty="0"/>
                        <a:t>(-)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→ </a:t>
                      </a:r>
                      <a:r>
                        <a:rPr lang="en-US" sz="1400" b="1" dirty="0"/>
                        <a:t>shown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90 left-leaning </a:t>
                      </a:r>
                      <a:r>
                        <a:rPr lang="en-US" sz="1400" b="1" dirty="0"/>
                        <a:t>(+)</a:t>
                      </a:r>
                      <a:r>
                        <a:rPr lang="en-US" sz="1400" dirty="0"/>
                        <a:t> and 10 right-leaning </a:t>
                      </a:r>
                      <a:r>
                        <a:rPr lang="en-US" sz="1400" b="1" dirty="0"/>
                        <a:t>(-)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→ likely </a:t>
                      </a:r>
                      <a:r>
                        <a:rPr lang="en-US" sz="1400" b="1" dirty="0"/>
                        <a:t>not shown</a:t>
                      </a:r>
                      <a:r>
                        <a:rPr lang="en-US" sz="1400" dirty="0"/>
                        <a:t> (one-sided support)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835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7288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A2ECF1F8-70E8-21EF-3AA3-AB1555D4C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10;p25">
            <a:extLst>
              <a:ext uri="{FF2B5EF4-FFF2-40B4-BE49-F238E27FC236}">
                <a16:creationId xmlns:a16="http://schemas.microsoft.com/office/drawing/2014/main" id="{4F37E52E-8D34-E347-AAB3-03E770FF52C9}"/>
              </a:ext>
            </a:extLst>
          </p:cNvPr>
          <p:cNvSpPr/>
          <p:nvPr/>
        </p:nvSpPr>
        <p:spPr>
          <a:xfrm>
            <a:off x="182300" y="187175"/>
            <a:ext cx="468180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3">
            <a:extLst>
              <a:ext uri="{FF2B5EF4-FFF2-40B4-BE49-F238E27FC236}">
                <a16:creationId xmlns:a16="http://schemas.microsoft.com/office/drawing/2014/main" id="{DE0ACA20-B9FD-F58C-089A-EC479706A624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18024" y="258050"/>
            <a:ext cx="8094126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de-DE" sz="5200" u="none" dirty="0"/>
              <a:t>Basic Formula</a:t>
            </a:r>
            <a:endParaRPr sz="5200" dirty="0"/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27D46810-CD3F-E908-D643-8237EAD03D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8</a:t>
            </a:fld>
            <a:endParaRPr/>
          </a:p>
        </p:txBody>
      </p:sp>
      <p:sp>
        <p:nvSpPr>
          <p:cNvPr id="5" name="Google Shape;184;p23">
            <a:extLst>
              <a:ext uri="{FF2B5EF4-FFF2-40B4-BE49-F238E27FC236}">
                <a16:creationId xmlns:a16="http://schemas.microsoft.com/office/drawing/2014/main" id="{26D4020D-194C-FD17-E7FA-1B2EC8FE0C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0050" y="3011976"/>
            <a:ext cx="8403900" cy="2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de-DE" sz="2400" dirty="0"/>
              <a:t>r̂ᵤₙ = </a:t>
            </a:r>
            <a:r>
              <a:rPr lang="de-DE" sz="2400" dirty="0" err="1"/>
              <a:t>predicted</a:t>
            </a:r>
            <a:r>
              <a:rPr lang="de-DE" sz="2400" dirty="0"/>
              <a:t> </a:t>
            </a:r>
            <a:r>
              <a:rPr lang="de-DE" sz="2400" dirty="0" err="1"/>
              <a:t>rating</a:t>
            </a:r>
            <a:r>
              <a:rPr lang="de-DE" sz="2400" dirty="0"/>
              <a:t> </a:t>
            </a:r>
            <a:r>
              <a:rPr lang="de-DE" sz="2400" dirty="0" err="1"/>
              <a:t>by</a:t>
            </a:r>
            <a:r>
              <a:rPr lang="de-DE" sz="2400" dirty="0"/>
              <a:t> </a:t>
            </a:r>
            <a:r>
              <a:rPr lang="de-DE" sz="2400" dirty="0" err="1"/>
              <a:t>user</a:t>
            </a:r>
            <a:r>
              <a:rPr lang="de-DE" sz="2400" dirty="0"/>
              <a:t> u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note</a:t>
            </a:r>
            <a:r>
              <a:rPr lang="de-DE" sz="2400" dirty="0"/>
              <a:t> n</a:t>
            </a: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l-GR" sz="2400" dirty="0"/>
              <a:t>μ = </a:t>
            </a:r>
            <a:r>
              <a:rPr lang="de-DE" sz="2400" dirty="0" err="1"/>
              <a:t>general</a:t>
            </a:r>
            <a:r>
              <a:rPr lang="de-DE" sz="2400" dirty="0"/>
              <a:t> </a:t>
            </a:r>
            <a:r>
              <a:rPr lang="de-DE" sz="2400" dirty="0" err="1"/>
              <a:t>baseline</a:t>
            </a:r>
            <a:r>
              <a:rPr lang="de-DE" sz="2400" dirty="0"/>
              <a:t> </a:t>
            </a:r>
            <a:r>
              <a:rPr lang="de-DE" sz="2400" dirty="0" err="1"/>
              <a:t>helpfulness</a:t>
            </a:r>
            <a:endParaRPr lang="de-DE" sz="2400" dirty="0"/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dirty="0" err="1"/>
              <a:t>i</a:t>
            </a:r>
            <a:r>
              <a:rPr lang="en-US" sz="2400" dirty="0"/>
              <a:t>ᵤ = user’s strict or generous rating tendency</a:t>
            </a: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dirty="0" err="1"/>
              <a:t>i</a:t>
            </a:r>
            <a:r>
              <a:rPr lang="en-US" sz="2400" dirty="0"/>
              <a:t>ₙ = note’s general helpfulness tendency</a:t>
            </a: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dirty="0"/>
              <a:t>fᵤ · fₙ = match between user viewpoint and note position</a:t>
            </a:r>
          </a:p>
        </p:txBody>
      </p:sp>
      <p:sp>
        <p:nvSpPr>
          <p:cNvPr id="2" name="Google Shape;188;p23">
            <a:extLst>
              <a:ext uri="{FF2B5EF4-FFF2-40B4-BE49-F238E27FC236}">
                <a16:creationId xmlns:a16="http://schemas.microsoft.com/office/drawing/2014/main" id="{FBC57C9C-AB18-B6D9-47E3-E49649D2A4E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3" name="Google Shape;189;p23">
            <a:extLst>
              <a:ext uri="{FF2B5EF4-FFF2-40B4-BE49-F238E27FC236}">
                <a16:creationId xmlns:a16="http://schemas.microsoft.com/office/drawing/2014/main" id="{C30C3D75-2F89-B5E1-FD40-5CDC19C62E0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432F825-748D-D0AD-6D66-099734425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950" y="1730769"/>
            <a:ext cx="4314501" cy="64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512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A899D6C5-612F-4BED-C50D-1AD59EC3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10;p25">
            <a:extLst>
              <a:ext uri="{FF2B5EF4-FFF2-40B4-BE49-F238E27FC236}">
                <a16:creationId xmlns:a16="http://schemas.microsoft.com/office/drawing/2014/main" id="{5E8FDBE1-C6E3-226A-95A0-4A5FCDE05FA5}"/>
              </a:ext>
            </a:extLst>
          </p:cNvPr>
          <p:cNvSpPr/>
          <p:nvPr/>
        </p:nvSpPr>
        <p:spPr>
          <a:xfrm>
            <a:off x="182300" y="187175"/>
            <a:ext cx="468180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3">
            <a:extLst>
              <a:ext uri="{FF2B5EF4-FFF2-40B4-BE49-F238E27FC236}">
                <a16:creationId xmlns:a16="http://schemas.microsoft.com/office/drawing/2014/main" id="{E4ADDA8B-94ED-24C2-3EBF-14233FB4C5AF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18024" y="258050"/>
            <a:ext cx="8094126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de-DE" sz="5200" u="none" dirty="0"/>
              <a:t>Basic Formula</a:t>
            </a:r>
            <a:endParaRPr sz="5200" dirty="0"/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3E9144B7-C987-BD1B-2506-F6AABDCBD5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9</a:t>
            </a:fld>
            <a:endParaRPr/>
          </a:p>
        </p:txBody>
      </p:sp>
      <p:sp>
        <p:nvSpPr>
          <p:cNvPr id="5" name="Google Shape;184;p23">
            <a:extLst>
              <a:ext uri="{FF2B5EF4-FFF2-40B4-BE49-F238E27FC236}">
                <a16:creationId xmlns:a16="http://schemas.microsoft.com/office/drawing/2014/main" id="{059D2BE2-C631-4A67-8FDA-28273645B2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0050" y="3011976"/>
            <a:ext cx="8403900" cy="2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000" dirty="0"/>
              <a:t>Part 1: Σ(rᵤₙ − r̂ᵤₙ)² , accurate prediction of ratings</a:t>
            </a: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000" dirty="0"/>
              <a:t>Part 2: </a:t>
            </a:r>
            <a:r>
              <a:rPr lang="el-GR" sz="2000" dirty="0"/>
              <a:t>λ</a:t>
            </a:r>
            <a:r>
              <a:rPr lang="de-DE" sz="2000" dirty="0"/>
              <a:t>ᵢ(</a:t>
            </a:r>
            <a:r>
              <a:rPr lang="de-DE" sz="2000" dirty="0" err="1"/>
              <a:t>iᵤ²</a:t>
            </a:r>
            <a:r>
              <a:rPr lang="de-DE" sz="2000" dirty="0"/>
              <a:t> + </a:t>
            </a:r>
            <a:r>
              <a:rPr lang="de-DE" sz="2000" dirty="0" err="1"/>
              <a:t>iₙ²</a:t>
            </a:r>
            <a:r>
              <a:rPr lang="de-DE" sz="2000" dirty="0"/>
              <a:t> + </a:t>
            </a:r>
            <a:r>
              <a:rPr lang="el-GR" sz="2000" dirty="0"/>
              <a:t>μ²)</a:t>
            </a:r>
            <a:r>
              <a:rPr lang="de-DE" sz="2000" dirty="0"/>
              <a:t>, </a:t>
            </a:r>
            <a:r>
              <a:rPr lang="de-DE" sz="2000" dirty="0" err="1"/>
              <a:t>keeping</a:t>
            </a:r>
            <a:r>
              <a:rPr lang="de-DE" sz="2000" dirty="0"/>
              <a:t> </a:t>
            </a:r>
            <a:r>
              <a:rPr lang="de-DE" sz="2000" dirty="0" err="1"/>
              <a:t>intercepts</a:t>
            </a:r>
            <a:r>
              <a:rPr lang="de-DE" sz="2000" dirty="0"/>
              <a:t> </a:t>
            </a:r>
            <a:r>
              <a:rPr lang="de-DE" sz="2000" dirty="0" err="1"/>
              <a:t>small</a:t>
            </a:r>
            <a:endParaRPr lang="en-US" sz="2000" dirty="0"/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000" dirty="0"/>
              <a:t>Part 3: </a:t>
            </a:r>
            <a:r>
              <a:rPr lang="el-GR" sz="2000" dirty="0"/>
              <a:t>λ</a:t>
            </a:r>
            <a:r>
              <a:rPr lang="de-DE" sz="2000" dirty="0"/>
              <a:t>f(‖fᵤ‖² + ‖fₙ‖²), </a:t>
            </a:r>
            <a:r>
              <a:rPr lang="en-US" sz="2000" dirty="0"/>
              <a:t>absorbs viewpoint-aligned agreement</a:t>
            </a: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de-DE" sz="2000" dirty="0"/>
              <a:t>Part 2 = expensive (</a:t>
            </a:r>
            <a:r>
              <a:rPr lang="el-GR" sz="2000" dirty="0"/>
              <a:t>λ</a:t>
            </a:r>
            <a:r>
              <a:rPr lang="de-DE" sz="2000" dirty="0"/>
              <a:t>ᵢ = 0.15), Part 3 = </a:t>
            </a:r>
            <a:r>
              <a:rPr lang="de-DE" sz="2000" dirty="0" err="1"/>
              <a:t>cheap</a:t>
            </a:r>
            <a:r>
              <a:rPr lang="de-DE" sz="2000" dirty="0"/>
              <a:t> (</a:t>
            </a:r>
            <a:r>
              <a:rPr lang="el-GR" sz="2000" dirty="0"/>
              <a:t>λ</a:t>
            </a:r>
            <a:r>
              <a:rPr lang="de-DE" sz="2000" dirty="0"/>
              <a:t>f = 0.03)</a:t>
            </a: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de-DE" sz="2000" dirty="0"/>
              <a:t>Genuine </a:t>
            </a:r>
            <a:r>
              <a:rPr lang="de-DE" sz="2000" dirty="0" err="1"/>
              <a:t>helpfulness</a:t>
            </a:r>
            <a:r>
              <a:rPr lang="de-DE" sz="2000" dirty="0"/>
              <a:t> vs. </a:t>
            </a:r>
            <a:r>
              <a:rPr lang="de-DE" sz="2000" dirty="0" err="1"/>
              <a:t>Viewpoint</a:t>
            </a:r>
            <a:r>
              <a:rPr lang="de-DE" sz="2000" dirty="0"/>
              <a:t> </a:t>
            </a:r>
            <a:r>
              <a:rPr lang="de-DE" sz="2000" dirty="0" err="1"/>
              <a:t>alignment</a:t>
            </a:r>
            <a:endParaRPr lang="de-DE" sz="2000" dirty="0"/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de-DE" sz="2000" dirty="0"/>
              <a:t>iₙ  = </a:t>
            </a:r>
            <a:r>
              <a:rPr lang="en-US" sz="2000" dirty="0"/>
              <a:t>helpfulness after viewpoint is factored out</a:t>
            </a:r>
            <a:r>
              <a:rPr lang="de-DE" sz="2000" dirty="0"/>
              <a:t> </a:t>
            </a:r>
          </a:p>
          <a:p>
            <a:pPr marL="800100" lvl="3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de-DE" sz="2000" dirty="0" err="1"/>
              <a:t>needs</a:t>
            </a:r>
            <a:r>
              <a:rPr lang="de-DE" sz="2000" dirty="0"/>
              <a:t> to </a:t>
            </a:r>
            <a:r>
              <a:rPr lang="de-DE" sz="2000" dirty="0" err="1"/>
              <a:t>reach</a:t>
            </a:r>
            <a:r>
              <a:rPr lang="de-DE" sz="2000" dirty="0"/>
              <a:t> </a:t>
            </a:r>
            <a:r>
              <a:rPr lang="de-DE" sz="2000" dirty="0" err="1"/>
              <a:t>certain</a:t>
            </a:r>
            <a:r>
              <a:rPr lang="de-DE" sz="2000" dirty="0"/>
              <a:t> </a:t>
            </a:r>
            <a:r>
              <a:rPr lang="de-DE" sz="2000" dirty="0" err="1"/>
              <a:t>threshold</a:t>
            </a:r>
            <a:r>
              <a:rPr lang="de-DE" sz="2000" dirty="0"/>
              <a:t> to </a:t>
            </a:r>
            <a:r>
              <a:rPr lang="de-DE" sz="2000" dirty="0" err="1"/>
              <a:t>be</a:t>
            </a:r>
            <a:r>
              <a:rPr lang="de-DE" sz="2000" dirty="0"/>
              <a:t> </a:t>
            </a:r>
            <a:r>
              <a:rPr lang="de-DE" sz="2000" dirty="0" err="1"/>
              <a:t>displayed</a:t>
            </a:r>
            <a:endParaRPr lang="en-US" sz="2000" dirty="0"/>
          </a:p>
        </p:txBody>
      </p:sp>
      <p:sp>
        <p:nvSpPr>
          <p:cNvPr id="2" name="Google Shape;188;p23">
            <a:extLst>
              <a:ext uri="{FF2B5EF4-FFF2-40B4-BE49-F238E27FC236}">
                <a16:creationId xmlns:a16="http://schemas.microsoft.com/office/drawing/2014/main" id="{437AEC05-8668-D863-B984-71C0B85A4D1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3" name="Google Shape;189;p23">
            <a:extLst>
              <a:ext uri="{FF2B5EF4-FFF2-40B4-BE49-F238E27FC236}">
                <a16:creationId xmlns:a16="http://schemas.microsoft.com/office/drawing/2014/main" id="{3076AC6D-BB64-665C-E04E-A46E8C4A229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4C4DA00-2A23-3B18-5437-4BBC0428E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748" y="1039324"/>
            <a:ext cx="4314501" cy="64258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0A544EF-035A-8D8C-EEF6-3D75268AB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1800049"/>
            <a:ext cx="9144000" cy="98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847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80010FBF-CB59-2175-A14C-37C393E11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08;p16">
            <a:extLst>
              <a:ext uri="{FF2B5EF4-FFF2-40B4-BE49-F238E27FC236}">
                <a16:creationId xmlns:a16="http://schemas.microsoft.com/office/drawing/2014/main" id="{F1A0A29A-88AB-74A6-7111-A0FC917BD435}"/>
              </a:ext>
            </a:extLst>
          </p:cNvPr>
          <p:cNvSpPr/>
          <p:nvPr/>
        </p:nvSpPr>
        <p:spPr>
          <a:xfrm>
            <a:off x="1970255" y="2736309"/>
            <a:ext cx="5201902" cy="8299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BEC2F6C4-C918-59AA-EBCF-7CACDCD2B2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10</a:t>
            </a:fld>
            <a:endParaRPr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6FB9E917-41CC-CD1B-F6E6-19C493398D3E}"/>
              </a:ext>
            </a:extLst>
          </p:cNvPr>
          <p:cNvSpPr txBox="1">
            <a:spLocks/>
          </p:cNvSpPr>
          <p:nvPr/>
        </p:nvSpPr>
        <p:spPr>
          <a:xfrm>
            <a:off x="1403349" y="2859126"/>
            <a:ext cx="6335713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Research Gap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2D6747F-416E-6FCA-AC44-DFDBE0DCFD3E}"/>
              </a:ext>
            </a:extLst>
          </p:cNvPr>
          <p:cNvSpPr txBox="1"/>
          <p:nvPr/>
        </p:nvSpPr>
        <p:spPr>
          <a:xfrm>
            <a:off x="2117014" y="3774031"/>
            <a:ext cx="490838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2" indent="-285750">
              <a:buSzPts val="1600"/>
              <a:buFont typeface="Arial" panose="020B0604020202020204" pitchFamily="34" charset="0"/>
              <a:buChar char="•"/>
            </a:pPr>
            <a:r>
              <a:rPr lang="en-US" sz="1400" dirty="0"/>
              <a:t>Prior Research has shown effectiveness of the algorithm</a:t>
            </a:r>
          </a:p>
          <a:p>
            <a:pPr marL="285750" lvl="2" indent="-285750">
              <a:buSzPts val="1600"/>
              <a:buFont typeface="Arial" panose="020B0604020202020204" pitchFamily="34" charset="0"/>
              <a:buChar char="•"/>
            </a:pPr>
            <a:r>
              <a:rPr lang="en-US" dirty="0"/>
              <a:t>Gap: post-display dynamics</a:t>
            </a:r>
            <a:endParaRPr lang="en-US" sz="1400" dirty="0"/>
          </a:p>
          <a:p>
            <a:pPr marL="285750" lvl="2" indent="-285750">
              <a:buSzPts val="1600"/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2" name="Google Shape;188;p23">
            <a:extLst>
              <a:ext uri="{FF2B5EF4-FFF2-40B4-BE49-F238E27FC236}">
                <a16:creationId xmlns:a16="http://schemas.microsoft.com/office/drawing/2014/main" id="{C874490D-4337-0425-07E6-0D02BB15181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3" name="Google Shape;189;p23">
            <a:extLst>
              <a:ext uri="{FF2B5EF4-FFF2-40B4-BE49-F238E27FC236}">
                <a16:creationId xmlns:a16="http://schemas.microsoft.com/office/drawing/2014/main" id="{F4A780E1-352A-7AD7-0271-ACC2EDF7634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5567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76DA7FBA-1220-91BC-671C-3BAC60D64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10;p25">
            <a:extLst>
              <a:ext uri="{FF2B5EF4-FFF2-40B4-BE49-F238E27FC236}">
                <a16:creationId xmlns:a16="http://schemas.microsoft.com/office/drawing/2014/main" id="{7B0E870D-0AC0-7C0C-4354-BDC1FEECCF4F}"/>
              </a:ext>
            </a:extLst>
          </p:cNvPr>
          <p:cNvSpPr/>
          <p:nvPr/>
        </p:nvSpPr>
        <p:spPr>
          <a:xfrm>
            <a:off x="182300" y="187175"/>
            <a:ext cx="251010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3">
            <a:extLst>
              <a:ext uri="{FF2B5EF4-FFF2-40B4-BE49-F238E27FC236}">
                <a16:creationId xmlns:a16="http://schemas.microsoft.com/office/drawing/2014/main" id="{15269C95-6A2D-840F-0811-43CCF43839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850" y="1475275"/>
            <a:ext cx="84039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dirty="0"/>
              <a:t>from November 11, 2022, to July 14, 2024</a:t>
            </a: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dirty="0"/>
              <a:t>437,396 Community notes</a:t>
            </a: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de-DE" sz="2400" kern="100" dirty="0"/>
              <a:t>35,081,488 Ratings</a:t>
            </a: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de-DE" sz="2400" kern="100" dirty="0"/>
              <a:t>583,285 Raters</a:t>
            </a:r>
            <a:endParaRPr lang="de-DE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de-DE" sz="2400" kern="100" dirty="0"/>
              <a:t>233,908 Source Posts</a:t>
            </a: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endParaRPr lang="de-DE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endParaRPr lang="de-DE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2" indent="0">
              <a:lnSpc>
                <a:spcPct val="150000"/>
              </a:lnSpc>
              <a:buSzPts val="1600"/>
              <a:buNone/>
            </a:pPr>
            <a:endParaRPr lang="de-DE" sz="2400" b="1" u="sng" dirty="0"/>
          </a:p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endParaRPr sz="2400" b="1" u="sng" dirty="0"/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79D86883-B8F1-D56F-1498-A892957A39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11</a:t>
            </a:fld>
            <a:endParaRPr/>
          </a:p>
        </p:txBody>
      </p:sp>
      <p:sp>
        <p:nvSpPr>
          <p:cNvPr id="187" name="Google Shape;187;p23">
            <a:extLst>
              <a:ext uri="{FF2B5EF4-FFF2-40B4-BE49-F238E27FC236}">
                <a16:creationId xmlns:a16="http://schemas.microsoft.com/office/drawing/2014/main" id="{1BECF3A2-8B56-9D49-B41A-5FDA63BBC0D7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18024" y="258050"/>
            <a:ext cx="8094126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de-DE" sz="5200" u="none" dirty="0"/>
              <a:t>Dataset</a:t>
            </a:r>
            <a:endParaRPr sz="520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7858F82-D0D3-2BCB-1DFD-89ABCCDA8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536" y="2203450"/>
            <a:ext cx="4591537" cy="3590975"/>
          </a:xfrm>
          <a:prstGeom prst="rect">
            <a:avLst/>
          </a:prstGeom>
        </p:spPr>
      </p:pic>
      <p:sp>
        <p:nvSpPr>
          <p:cNvPr id="2" name="Google Shape;188;p23">
            <a:extLst>
              <a:ext uri="{FF2B5EF4-FFF2-40B4-BE49-F238E27FC236}">
                <a16:creationId xmlns:a16="http://schemas.microsoft.com/office/drawing/2014/main" id="{38369172-C9CD-D737-2944-C307FC1761A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3" name="Google Shape;189;p23">
            <a:extLst>
              <a:ext uri="{FF2B5EF4-FFF2-40B4-BE49-F238E27FC236}">
                <a16:creationId xmlns:a16="http://schemas.microsoft.com/office/drawing/2014/main" id="{B9420D4E-D6A1-6A50-BB93-35B3CD2317F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9456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FBF2FFC8-75AA-F21B-05D1-6764A34EE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10;p25">
            <a:extLst>
              <a:ext uri="{FF2B5EF4-FFF2-40B4-BE49-F238E27FC236}">
                <a16:creationId xmlns:a16="http://schemas.microsoft.com/office/drawing/2014/main" id="{00A32CD4-B106-3740-8258-00AA3A906875}"/>
              </a:ext>
            </a:extLst>
          </p:cNvPr>
          <p:cNvSpPr/>
          <p:nvPr/>
        </p:nvSpPr>
        <p:spPr>
          <a:xfrm>
            <a:off x="182300" y="187175"/>
            <a:ext cx="501480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CDCD127B-CF07-85BB-ECC3-31A8677C1E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12</a:t>
            </a:fld>
            <a:endParaRPr/>
          </a:p>
        </p:txBody>
      </p:sp>
      <p:sp>
        <p:nvSpPr>
          <p:cNvPr id="187" name="Google Shape;187;p23">
            <a:extLst>
              <a:ext uri="{FF2B5EF4-FFF2-40B4-BE49-F238E27FC236}">
                <a16:creationId xmlns:a16="http://schemas.microsoft.com/office/drawing/2014/main" id="{E4B7010C-2B89-8099-8A69-FAF368B3E629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18024" y="258050"/>
            <a:ext cx="8094126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de-DE" sz="5200" u="none" dirty="0"/>
              <a:t>Rater </a:t>
            </a:r>
            <a:r>
              <a:rPr lang="de-DE" sz="5200" u="none" dirty="0" err="1"/>
              <a:t>Similarity</a:t>
            </a:r>
            <a:endParaRPr sz="5200" dirty="0"/>
          </a:p>
        </p:txBody>
      </p:sp>
      <p:sp>
        <p:nvSpPr>
          <p:cNvPr id="5" name="Google Shape;184;p23">
            <a:extLst>
              <a:ext uri="{FF2B5EF4-FFF2-40B4-BE49-F238E27FC236}">
                <a16:creationId xmlns:a16="http://schemas.microsoft.com/office/drawing/2014/main" id="{40078FB5-AF16-11A3-8F30-DEDDE612EB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850" y="1475275"/>
            <a:ext cx="8403900" cy="455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b="1" u="sng" dirty="0"/>
              <a:t>Purpose: </a:t>
            </a:r>
            <a:r>
              <a:rPr lang="en-US" sz="2400" dirty="0"/>
              <a:t>factor the bridging logic into the analysis</a:t>
            </a: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b="1" u="sng" dirty="0"/>
              <a:t>Method: </a:t>
            </a:r>
            <a:r>
              <a:rPr lang="en-US" sz="2400" dirty="0"/>
              <a:t>estimate latent rater viewpoints from past ratings</a:t>
            </a: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b="1" u="sng" dirty="0"/>
              <a:t>Model Extension:</a:t>
            </a:r>
            <a:r>
              <a:rPr lang="en-US" sz="2400" dirty="0"/>
              <a:t> from </a:t>
            </a:r>
            <a:r>
              <a:rPr lang="en-US" sz="2400" b="1" dirty="0"/>
              <a:t>1 dimension</a:t>
            </a:r>
            <a:r>
              <a:rPr lang="en-US" sz="2400" dirty="0"/>
              <a:t> in the original algorithm to </a:t>
            </a:r>
            <a:r>
              <a:rPr lang="en-US" sz="2400" b="1" dirty="0"/>
              <a:t>200 dimensions</a:t>
            </a:r>
            <a:r>
              <a:rPr lang="en-US" sz="2400" dirty="0"/>
              <a:t> in this study</a:t>
            </a: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de-DE" sz="2400" b="1" u="sng" dirty="0" err="1"/>
              <a:t>Adapted</a:t>
            </a:r>
            <a:r>
              <a:rPr lang="de-DE" sz="2400" b="1" u="sng" dirty="0"/>
              <a:t> Loss </a:t>
            </a:r>
            <a:r>
              <a:rPr lang="de-DE" sz="2400" b="1" u="sng" dirty="0" err="1"/>
              <a:t>function</a:t>
            </a:r>
            <a:r>
              <a:rPr lang="de-DE" sz="2400" b="1" u="sng" dirty="0"/>
              <a:t>:</a:t>
            </a:r>
          </a:p>
          <a:p>
            <a:pPr marL="0" lvl="2" indent="0">
              <a:lnSpc>
                <a:spcPct val="150000"/>
              </a:lnSpc>
              <a:buSzPts val="1600"/>
              <a:buNone/>
            </a:pPr>
            <a:endParaRPr lang="de-DE" sz="2400" b="1" u="sng" dirty="0"/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endParaRPr lang="de-DE" sz="2400" b="1" u="sng" dirty="0"/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de-DE" sz="2400" b="1" u="sng" dirty="0"/>
              <a:t>Groups:</a:t>
            </a:r>
            <a:r>
              <a:rPr lang="de-DE" sz="2400" dirty="0"/>
              <a:t> </a:t>
            </a:r>
            <a:r>
              <a:rPr lang="de-DE" sz="2400" dirty="0" err="1"/>
              <a:t>Similar</a:t>
            </a:r>
            <a:r>
              <a:rPr lang="de-DE" sz="2400" dirty="0"/>
              <a:t> (&gt; 0.136), </a:t>
            </a:r>
            <a:r>
              <a:rPr lang="de-DE" sz="2400" dirty="0" err="1"/>
              <a:t>Dissimilar</a:t>
            </a:r>
            <a:r>
              <a:rPr lang="de-DE" sz="2400" dirty="0"/>
              <a:t> (&lt; -0.097), General</a:t>
            </a:r>
            <a:endParaRPr sz="2400" b="1" u="sng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F74BFD4-84A2-CE1A-2DA2-B87E01BAD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062" y="4217227"/>
            <a:ext cx="4590049" cy="1165498"/>
          </a:xfrm>
          <a:prstGeom prst="rect">
            <a:avLst/>
          </a:prstGeom>
        </p:spPr>
      </p:pic>
      <p:sp>
        <p:nvSpPr>
          <p:cNvPr id="2" name="Google Shape;188;p23">
            <a:extLst>
              <a:ext uri="{FF2B5EF4-FFF2-40B4-BE49-F238E27FC236}">
                <a16:creationId xmlns:a16="http://schemas.microsoft.com/office/drawing/2014/main" id="{3C3F60EA-64E9-940A-9411-062C7ADD986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3" name="Google Shape;189;p23">
            <a:extLst>
              <a:ext uri="{FF2B5EF4-FFF2-40B4-BE49-F238E27FC236}">
                <a16:creationId xmlns:a16="http://schemas.microsoft.com/office/drawing/2014/main" id="{26192D5B-F912-8FFB-02A3-197ACB381A8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0550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DA5DB109-A7E8-32CA-8446-420E0B6E2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10;p25">
            <a:extLst>
              <a:ext uri="{FF2B5EF4-FFF2-40B4-BE49-F238E27FC236}">
                <a16:creationId xmlns:a16="http://schemas.microsoft.com/office/drawing/2014/main" id="{F8C7E2D8-E2CF-20C5-14CF-BFCDC16CFD27}"/>
              </a:ext>
            </a:extLst>
          </p:cNvPr>
          <p:cNvSpPr/>
          <p:nvPr/>
        </p:nvSpPr>
        <p:spPr>
          <a:xfrm>
            <a:off x="182300" y="187175"/>
            <a:ext cx="447860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C3AC41E2-E735-2742-B187-47B97A9780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13</a:t>
            </a:fld>
            <a:endParaRPr/>
          </a:p>
        </p:txBody>
      </p:sp>
      <p:sp>
        <p:nvSpPr>
          <p:cNvPr id="187" name="Google Shape;187;p23">
            <a:extLst>
              <a:ext uri="{FF2B5EF4-FFF2-40B4-BE49-F238E27FC236}">
                <a16:creationId xmlns:a16="http://schemas.microsoft.com/office/drawing/2014/main" id="{466EA41B-C947-8614-AFEF-7118E880A44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18024" y="258050"/>
            <a:ext cx="8094126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de-DE" sz="5200" u="none" dirty="0"/>
              <a:t>Rater Groups</a:t>
            </a:r>
            <a:endParaRPr sz="5200" dirty="0"/>
          </a:p>
        </p:txBody>
      </p:sp>
      <p:sp>
        <p:nvSpPr>
          <p:cNvPr id="5" name="Google Shape;184;p23">
            <a:extLst>
              <a:ext uri="{FF2B5EF4-FFF2-40B4-BE49-F238E27FC236}">
                <a16:creationId xmlns:a16="http://schemas.microsoft.com/office/drawing/2014/main" id="{65EE0B3D-7E9F-068D-CA70-CFD38E66F2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850" y="1475275"/>
            <a:ext cx="8403900" cy="455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dirty="0"/>
              <a:t>Subgroups here are inferred behavioral proxies, derived from rating history</a:t>
            </a: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dirty="0"/>
              <a:t>The data contains no legally protected attributes (race, gender, age)</a:t>
            </a: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dirty="0"/>
              <a:t>Fairness claims in this paper are about ideological subgroups, not protected groups</a:t>
            </a:r>
            <a:endParaRPr sz="2400" dirty="0"/>
          </a:p>
        </p:txBody>
      </p:sp>
      <p:sp>
        <p:nvSpPr>
          <p:cNvPr id="2" name="Google Shape;188;p23">
            <a:extLst>
              <a:ext uri="{FF2B5EF4-FFF2-40B4-BE49-F238E27FC236}">
                <a16:creationId xmlns:a16="http://schemas.microsoft.com/office/drawing/2014/main" id="{0B2321FD-5ED4-3B67-EC36-D379231C296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3" name="Google Shape;189;p23">
            <a:extLst>
              <a:ext uri="{FF2B5EF4-FFF2-40B4-BE49-F238E27FC236}">
                <a16:creationId xmlns:a16="http://schemas.microsoft.com/office/drawing/2014/main" id="{D1671D5F-F70B-CAD5-CF32-3B1E21DF350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5338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268F26E4-34B4-66DF-CC46-A9356A3B0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10;p25">
            <a:extLst>
              <a:ext uri="{FF2B5EF4-FFF2-40B4-BE49-F238E27FC236}">
                <a16:creationId xmlns:a16="http://schemas.microsoft.com/office/drawing/2014/main" id="{1DB3BBC3-E150-D495-552B-0A2DA9473FE0}"/>
              </a:ext>
            </a:extLst>
          </p:cNvPr>
          <p:cNvSpPr/>
          <p:nvPr/>
        </p:nvSpPr>
        <p:spPr>
          <a:xfrm>
            <a:off x="182300" y="187175"/>
            <a:ext cx="652330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8720CCF4-119D-B924-4585-AAA9D0E783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14</a:t>
            </a:fld>
            <a:endParaRPr/>
          </a:p>
        </p:txBody>
      </p:sp>
      <p:sp>
        <p:nvSpPr>
          <p:cNvPr id="187" name="Google Shape;187;p23">
            <a:extLst>
              <a:ext uri="{FF2B5EF4-FFF2-40B4-BE49-F238E27FC236}">
                <a16:creationId xmlns:a16="http://schemas.microsoft.com/office/drawing/2014/main" id="{DC357956-51C2-7CD1-5151-F01BFD58EBDF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18024" y="258050"/>
            <a:ext cx="8094126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/>
          <a:p>
            <a:pPr lvl="0">
              <a:lnSpc>
                <a:spcPct val="105000"/>
              </a:lnSpc>
              <a:buSzPts val="5200"/>
            </a:pPr>
            <a:r>
              <a:rPr lang="de-DE" sz="5200" u="none" dirty="0"/>
              <a:t>Multi-step Approach</a:t>
            </a:r>
            <a:endParaRPr sz="5200" dirty="0"/>
          </a:p>
        </p:txBody>
      </p:sp>
      <p:sp>
        <p:nvSpPr>
          <p:cNvPr id="5" name="Google Shape;184;p23">
            <a:extLst>
              <a:ext uri="{FF2B5EF4-FFF2-40B4-BE49-F238E27FC236}">
                <a16:creationId xmlns:a16="http://schemas.microsoft.com/office/drawing/2014/main" id="{0A38FE7C-4634-A81B-881F-C4FD1F92A8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850" y="1475275"/>
            <a:ext cx="84039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b="1" u="sng" dirty="0" err="1"/>
              <a:t>RQ1</a:t>
            </a:r>
            <a:r>
              <a:rPr lang="en-US" sz="2400" dirty="0"/>
              <a:t>: </a:t>
            </a:r>
            <a:r>
              <a:rPr lang="en-US" sz="2400" kern="100" dirty="0"/>
              <a:t>How often do displayed notes disappear?</a:t>
            </a:r>
            <a:endParaRPr lang="en-US" sz="2400" dirty="0"/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b="1" u="sng" dirty="0" err="1"/>
              <a:t>RQ2</a:t>
            </a:r>
            <a:r>
              <a:rPr lang="en-US" sz="2400" b="1" u="sng" dirty="0"/>
              <a:t>:</a:t>
            </a:r>
            <a:r>
              <a:rPr lang="en-US" sz="2400" dirty="0"/>
              <a:t> </a:t>
            </a:r>
            <a:r>
              <a:rPr lang="en-US" sz="2400" kern="100" dirty="0"/>
              <a:t>Which post and author characteristics predict disappearance?</a:t>
            </a:r>
            <a:endParaRPr lang="en-US" sz="2400" b="1" u="sng" dirty="0"/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b="1" u="sng" dirty="0" err="1"/>
              <a:t>RQ3</a:t>
            </a:r>
            <a:r>
              <a:rPr lang="en-US" sz="2400" b="1" u="sng" dirty="0"/>
              <a:t>:</a:t>
            </a:r>
            <a:r>
              <a:rPr lang="en-US" sz="2400" dirty="0"/>
              <a:t> How do rating count and rating leaning change after display?</a:t>
            </a: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de-DE" sz="2400" b="1" u="sng" dirty="0" err="1"/>
              <a:t>RQ4</a:t>
            </a:r>
            <a:r>
              <a:rPr lang="de-DE" sz="2400" b="1" u="sng" dirty="0"/>
              <a:t>:</a:t>
            </a:r>
            <a:r>
              <a:rPr lang="de-DE" sz="2400" dirty="0"/>
              <a:t> </a:t>
            </a:r>
            <a:r>
              <a:rPr lang="en-US" sz="2400" kern="100" dirty="0"/>
              <a:t>Do similar and dissimilar raters behave differently after display?</a:t>
            </a:r>
            <a:endParaRPr lang="de-DE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endParaRPr lang="de-DE" sz="2400" b="1" u="sng" dirty="0"/>
          </a:p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endParaRPr sz="2400" b="1" u="sng" dirty="0"/>
          </a:p>
        </p:txBody>
      </p:sp>
      <p:sp>
        <p:nvSpPr>
          <p:cNvPr id="2" name="Google Shape;188;p23">
            <a:extLst>
              <a:ext uri="{FF2B5EF4-FFF2-40B4-BE49-F238E27FC236}">
                <a16:creationId xmlns:a16="http://schemas.microsoft.com/office/drawing/2014/main" id="{F4C0EE3F-E193-D0F1-2DDF-C74F1C072FF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3" name="Google Shape;189;p23">
            <a:extLst>
              <a:ext uri="{FF2B5EF4-FFF2-40B4-BE49-F238E27FC236}">
                <a16:creationId xmlns:a16="http://schemas.microsoft.com/office/drawing/2014/main" id="{009123AE-8622-608D-A395-2E2ECDBBF2E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7341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016245B4-E9B2-D6BF-F4F4-44B044B63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0;p25">
            <a:extLst>
              <a:ext uri="{FF2B5EF4-FFF2-40B4-BE49-F238E27FC236}">
                <a16:creationId xmlns:a16="http://schemas.microsoft.com/office/drawing/2014/main" id="{1822D925-C3BD-8779-D775-6365DB5B2CA4}"/>
              </a:ext>
            </a:extLst>
          </p:cNvPr>
          <p:cNvSpPr/>
          <p:nvPr/>
        </p:nvSpPr>
        <p:spPr>
          <a:xfrm>
            <a:off x="182300" y="187175"/>
            <a:ext cx="846400" cy="50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8A53D1C9-1DED-0D39-EDF3-2118941877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15</a:t>
            </a:fld>
            <a:endParaRPr/>
          </a:p>
        </p:txBody>
      </p:sp>
      <p:sp>
        <p:nvSpPr>
          <p:cNvPr id="187" name="Google Shape;187;p23">
            <a:extLst>
              <a:ext uri="{FF2B5EF4-FFF2-40B4-BE49-F238E27FC236}">
                <a16:creationId xmlns:a16="http://schemas.microsoft.com/office/drawing/2014/main" id="{95E3003E-037D-AC9A-DCF8-3E4D3A6FEF9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09687" y="133731"/>
            <a:ext cx="8724626" cy="50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/>
          <a:p>
            <a:pPr>
              <a:lnSpc>
                <a:spcPct val="105000"/>
              </a:lnSpc>
              <a:buSzPts val="5200"/>
            </a:pPr>
            <a:r>
              <a:rPr lang="de-DE" sz="2400" u="none" dirty="0" err="1"/>
              <a:t>RQ</a:t>
            </a:r>
            <a:r>
              <a:rPr lang="de-DE" sz="2400" u="none" dirty="0"/>
              <a:t> 1: </a:t>
            </a:r>
            <a:r>
              <a:rPr lang="en-US" sz="2400" kern="100" dirty="0"/>
              <a:t>How often do displayed notes disappear?</a:t>
            </a:r>
            <a:endParaRPr sz="2400" b="0" u="none" dirty="0"/>
          </a:p>
        </p:txBody>
      </p:sp>
      <p:sp>
        <p:nvSpPr>
          <p:cNvPr id="5" name="Google Shape;184;p23">
            <a:extLst>
              <a:ext uri="{FF2B5EF4-FFF2-40B4-BE49-F238E27FC236}">
                <a16:creationId xmlns:a16="http://schemas.microsoft.com/office/drawing/2014/main" id="{3F47AD6E-A4B5-8660-CBBB-1BB5F703E9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850" y="1475275"/>
            <a:ext cx="84039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b="1" u="sng" dirty="0"/>
              <a:t>Method:</a:t>
            </a:r>
            <a:r>
              <a:rPr lang="en-US" sz="2400" dirty="0"/>
              <a:t> descriptive statistics</a:t>
            </a:r>
            <a:endParaRPr lang="de-DE" dirty="0"/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b="1" u="sng" dirty="0"/>
              <a:t>Findings: </a:t>
            </a:r>
          </a:p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endParaRPr sz="2400" b="1" u="sng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2357B36-15ED-5095-E01F-073E9535B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486" y="2438400"/>
            <a:ext cx="4765025" cy="3590975"/>
          </a:xfrm>
          <a:prstGeom prst="rect">
            <a:avLst/>
          </a:prstGeom>
        </p:spPr>
      </p:pic>
      <p:sp>
        <p:nvSpPr>
          <p:cNvPr id="3" name="Google Shape;188;p23">
            <a:extLst>
              <a:ext uri="{FF2B5EF4-FFF2-40B4-BE49-F238E27FC236}">
                <a16:creationId xmlns:a16="http://schemas.microsoft.com/office/drawing/2014/main" id="{FD33B07D-C2B0-D697-3ED7-AB073E49CDB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4" name="Google Shape;189;p23">
            <a:extLst>
              <a:ext uri="{FF2B5EF4-FFF2-40B4-BE49-F238E27FC236}">
                <a16:creationId xmlns:a16="http://schemas.microsoft.com/office/drawing/2014/main" id="{41856805-CA2E-6F5D-664D-B36D670239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9350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C81E2F98-A5A3-BBEB-CB44-6DEB4FFE2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1AB7C4E1-6252-3725-005A-5A1450F4256C}"/>
              </a:ext>
            </a:extLst>
          </p:cNvPr>
          <p:cNvSpPr/>
          <p:nvPr/>
        </p:nvSpPr>
        <p:spPr>
          <a:xfrm>
            <a:off x="182300" y="187175"/>
            <a:ext cx="846400" cy="50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F26AAE1B-CEEA-C0B8-0A74-449C6C426A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16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184;p23">
                <a:extLst>
                  <a:ext uri="{FF2B5EF4-FFF2-40B4-BE49-F238E27FC236}">
                    <a16:creationId xmlns:a16="http://schemas.microsoft.com/office/drawing/2014/main" id="{3449370C-9640-5D2B-8BC8-DAEC7BEAE98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23850" y="1475275"/>
                <a:ext cx="8750300" cy="46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342900" lvl="2">
                  <a:lnSpc>
                    <a:spcPct val="150000"/>
                  </a:lnSpc>
                  <a:buSzPts val="1600"/>
                  <a:buFont typeface="Arial" panose="020B0604020202020204" pitchFamily="34" charset="0"/>
                  <a:buChar char="•"/>
                </a:pPr>
                <a:r>
                  <a:rPr lang="en-US" sz="2400" b="1" u="sng" kern="100" dirty="0"/>
                  <a:t>Method:</a:t>
                </a:r>
                <a:r>
                  <a:rPr lang="en-US" sz="2400" kern="100" dirty="0"/>
                  <a:t> </a:t>
                </a:r>
                <a:r>
                  <a:rPr lang="en-US" sz="2400" dirty="0"/>
                  <a:t>multilevel logistic regression model:</a:t>
                </a:r>
              </a:p>
              <a:p>
                <a:pPr marL="342900" lvl="2">
                  <a:lnSpc>
                    <a:spcPct val="150000"/>
                  </a:lnSpc>
                  <a:buSzPts val="16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logit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))=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de-D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𝑃𝑜𝑠𝑡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de-D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𝑃𝑜𝑠𝑡𝑒𝑟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endParaRPr lang="de-DE" dirty="0"/>
              </a:p>
              <a:p>
                <a:pPr marL="342900" lvl="2">
                  <a:lnSpc>
                    <a:spcPct val="150000"/>
                  </a:lnSpc>
                  <a:buSzPts val="1600"/>
                  <a:buFont typeface="Arial" panose="020B0604020202020204" pitchFamily="34" charset="0"/>
                  <a:buChar char="•"/>
                </a:pPr>
                <a:r>
                  <a:rPr lang="en-US" sz="2400" b="1" u="sng" dirty="0"/>
                  <a:t>Findings: </a:t>
                </a:r>
              </a:p>
              <a:p>
                <a:pPr marL="285750" lvl="2" indent="-285750">
                  <a:lnSpc>
                    <a:spcPct val="150000"/>
                  </a:lnSpc>
                  <a:buSzPts val="1600"/>
                  <a:buFont typeface="Arial" panose="020B0604020202020204" pitchFamily="34" charset="0"/>
                  <a:buChar char="•"/>
                </a:pPr>
                <a:endParaRPr sz="2400" b="1" u="sng" dirty="0"/>
              </a:p>
            </p:txBody>
          </p:sp>
        </mc:Choice>
        <mc:Fallback xmlns="">
          <p:sp>
            <p:nvSpPr>
              <p:cNvPr id="5" name="Google Shape;184;p23">
                <a:extLst>
                  <a:ext uri="{FF2B5EF4-FFF2-40B4-BE49-F238E27FC236}">
                    <a16:creationId xmlns:a16="http://schemas.microsoft.com/office/drawing/2014/main" id="{3449370C-9640-5D2B-8BC8-DAEC7BEAE98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3850" y="1475275"/>
                <a:ext cx="8750300" cy="4617600"/>
              </a:xfrm>
              <a:prstGeom prst="rect">
                <a:avLst/>
              </a:prstGeom>
              <a:blipFill>
                <a:blip r:embed="rId3"/>
                <a:stretch>
                  <a:fillRect l="-13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fik 2">
            <a:extLst>
              <a:ext uri="{FF2B5EF4-FFF2-40B4-BE49-F238E27FC236}">
                <a16:creationId xmlns:a16="http://schemas.microsoft.com/office/drawing/2014/main" id="{43D29329-54A3-541F-584E-87082BB0F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9993" y="2494884"/>
            <a:ext cx="3818014" cy="3728116"/>
          </a:xfrm>
          <a:prstGeom prst="rect">
            <a:avLst/>
          </a:prstGeom>
        </p:spPr>
      </p:pic>
      <p:sp>
        <p:nvSpPr>
          <p:cNvPr id="7" name="Google Shape;187;p23">
            <a:extLst>
              <a:ext uri="{FF2B5EF4-FFF2-40B4-BE49-F238E27FC236}">
                <a16:creationId xmlns:a16="http://schemas.microsoft.com/office/drawing/2014/main" id="{7F6D24DE-2B06-9E4E-31C7-99395C839B5E}"/>
              </a:ext>
            </a:extLst>
          </p:cNvPr>
          <p:cNvSpPr txBox="1">
            <a:spLocks/>
          </p:cNvSpPr>
          <p:nvPr/>
        </p:nvSpPr>
        <p:spPr>
          <a:xfrm>
            <a:off x="209687" y="512400"/>
            <a:ext cx="8724626" cy="50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5000"/>
              </a:lnSpc>
              <a:buSzPts val="5200"/>
            </a:pPr>
            <a:r>
              <a:rPr lang="en-US" sz="2400" u="none" kern="100" dirty="0"/>
              <a:t>RQ 2: </a:t>
            </a:r>
            <a:r>
              <a:rPr lang="en-US" sz="2400" kern="100" dirty="0"/>
              <a:t>Which post and author characteristics predict   </a:t>
            </a:r>
            <a:br>
              <a:rPr lang="en-US" sz="2400" kern="100" dirty="0"/>
            </a:br>
            <a:r>
              <a:rPr lang="en-US" sz="2400" b="0" u="none" kern="100" dirty="0"/>
              <a:t>           </a:t>
            </a:r>
            <a:r>
              <a:rPr lang="en-US" sz="2400" kern="100" dirty="0"/>
              <a:t>disappearance?</a:t>
            </a:r>
            <a:endParaRPr lang="en-US" sz="2400" dirty="0"/>
          </a:p>
        </p:txBody>
      </p:sp>
      <p:sp>
        <p:nvSpPr>
          <p:cNvPr id="2" name="Google Shape;188;p23">
            <a:extLst>
              <a:ext uri="{FF2B5EF4-FFF2-40B4-BE49-F238E27FC236}">
                <a16:creationId xmlns:a16="http://schemas.microsoft.com/office/drawing/2014/main" id="{E2F01A19-F4C7-1FAE-D2C6-CF23C1569C6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6" name="Google Shape;189;p23">
            <a:extLst>
              <a:ext uri="{FF2B5EF4-FFF2-40B4-BE49-F238E27FC236}">
                <a16:creationId xmlns:a16="http://schemas.microsoft.com/office/drawing/2014/main" id="{AF246391-05D9-D27E-CDCA-B531DAE0A51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8609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6969DC15-118A-A0B6-C2FA-B6242A2FE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0;p25">
            <a:extLst>
              <a:ext uri="{FF2B5EF4-FFF2-40B4-BE49-F238E27FC236}">
                <a16:creationId xmlns:a16="http://schemas.microsoft.com/office/drawing/2014/main" id="{18269E92-BE93-AC31-D687-5E0A9EB7BF4F}"/>
              </a:ext>
            </a:extLst>
          </p:cNvPr>
          <p:cNvSpPr/>
          <p:nvPr/>
        </p:nvSpPr>
        <p:spPr>
          <a:xfrm>
            <a:off x="182300" y="187175"/>
            <a:ext cx="846400" cy="50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8C024B48-B7C6-DA23-4CAC-F8BE56DBEE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17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184;p23">
                <a:extLst>
                  <a:ext uri="{FF2B5EF4-FFF2-40B4-BE49-F238E27FC236}">
                    <a16:creationId xmlns:a16="http://schemas.microsoft.com/office/drawing/2014/main" id="{17775B77-EF6F-8FA5-2BEC-82EACEBC0455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23850" y="1475275"/>
                <a:ext cx="8750300" cy="46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342900" lvl="2">
                  <a:lnSpc>
                    <a:spcPct val="150000"/>
                  </a:lnSpc>
                  <a:buSzPts val="1600"/>
                  <a:buFont typeface="Arial" panose="020B0604020202020204" pitchFamily="34" charset="0"/>
                  <a:buChar char="•"/>
                </a:pPr>
                <a:r>
                  <a:rPr lang="en-US" sz="2400" b="1" u="sng" kern="100" dirty="0"/>
                  <a:t>Method:</a:t>
                </a:r>
                <a:r>
                  <a:rPr lang="en-US" sz="2400" kern="100" dirty="0"/>
                  <a:t> </a:t>
                </a:r>
                <a:r>
                  <a:rPr lang="en-US" sz="2400" dirty="0"/>
                  <a:t>interrupted time series model:</a:t>
                </a:r>
              </a:p>
              <a:p>
                <a:pPr marL="342900" lvl="2">
                  <a:lnSpc>
                    <a:spcPct val="150000"/>
                  </a:lnSpc>
                  <a:buSzPts val="16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de-D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de-DE" dirty="0"/>
              </a:p>
              <a:p>
                <a:pPr marL="342900" lvl="2">
                  <a:lnSpc>
                    <a:spcPct val="150000"/>
                  </a:lnSpc>
                  <a:buSzPts val="1600"/>
                  <a:buFont typeface="Arial" panose="020B0604020202020204" pitchFamily="34" charset="0"/>
                  <a:buChar char="•"/>
                </a:pPr>
                <a:r>
                  <a:rPr lang="en-US" sz="2400" b="1" u="sng" dirty="0"/>
                  <a:t>Findings: </a:t>
                </a:r>
              </a:p>
              <a:p>
                <a:pPr marL="285750" lvl="2" indent="-285750">
                  <a:lnSpc>
                    <a:spcPct val="150000"/>
                  </a:lnSpc>
                  <a:buSzPts val="1600"/>
                  <a:buFont typeface="Arial" panose="020B0604020202020204" pitchFamily="34" charset="0"/>
                  <a:buChar char="•"/>
                </a:pPr>
                <a:endParaRPr sz="2400" b="1" u="sng" dirty="0"/>
              </a:p>
            </p:txBody>
          </p:sp>
        </mc:Choice>
        <mc:Fallback xmlns="">
          <p:sp>
            <p:nvSpPr>
              <p:cNvPr id="5" name="Google Shape;184;p23">
                <a:extLst>
                  <a:ext uri="{FF2B5EF4-FFF2-40B4-BE49-F238E27FC236}">
                    <a16:creationId xmlns:a16="http://schemas.microsoft.com/office/drawing/2014/main" id="{17775B77-EF6F-8FA5-2BEC-82EACEBC045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3850" y="1475275"/>
                <a:ext cx="8750300" cy="4617600"/>
              </a:xfrm>
              <a:prstGeom prst="rect">
                <a:avLst/>
              </a:prstGeom>
              <a:blipFill>
                <a:blip r:embed="rId3"/>
                <a:stretch>
                  <a:fillRect l="-13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87;p23">
            <a:extLst>
              <a:ext uri="{FF2B5EF4-FFF2-40B4-BE49-F238E27FC236}">
                <a16:creationId xmlns:a16="http://schemas.microsoft.com/office/drawing/2014/main" id="{DD4D75BC-834F-C8C7-D360-FB5B81A1CF1B}"/>
              </a:ext>
            </a:extLst>
          </p:cNvPr>
          <p:cNvSpPr txBox="1">
            <a:spLocks/>
          </p:cNvSpPr>
          <p:nvPr/>
        </p:nvSpPr>
        <p:spPr>
          <a:xfrm>
            <a:off x="209686" y="512400"/>
            <a:ext cx="8724626" cy="50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5000"/>
              </a:lnSpc>
              <a:buSzPts val="5200"/>
            </a:pPr>
            <a:r>
              <a:rPr lang="en-US" sz="2400" u="none" kern="100" dirty="0"/>
              <a:t>RQ 3: </a:t>
            </a:r>
            <a:r>
              <a:rPr lang="en-US" sz="2400" dirty="0"/>
              <a:t>How do rating count and rating leaning change after</a:t>
            </a:r>
            <a:br>
              <a:rPr lang="en-US" sz="2400" dirty="0"/>
            </a:br>
            <a:r>
              <a:rPr lang="en-US" sz="2400" b="0" u="none" dirty="0"/>
              <a:t>           </a:t>
            </a:r>
            <a:r>
              <a:rPr lang="en-US" sz="2400" dirty="0"/>
              <a:t>display?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6FDC556-D498-62E3-F179-01F13656D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268220"/>
            <a:ext cx="9144000" cy="2493260"/>
          </a:xfrm>
          <a:prstGeom prst="rect">
            <a:avLst/>
          </a:prstGeom>
        </p:spPr>
      </p:pic>
      <p:sp>
        <p:nvSpPr>
          <p:cNvPr id="3" name="Google Shape;188;p23">
            <a:extLst>
              <a:ext uri="{FF2B5EF4-FFF2-40B4-BE49-F238E27FC236}">
                <a16:creationId xmlns:a16="http://schemas.microsoft.com/office/drawing/2014/main" id="{92CCA166-CD10-0DF1-13CC-CE4FF1CAD0A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8" name="Google Shape;189;p23">
            <a:extLst>
              <a:ext uri="{FF2B5EF4-FFF2-40B4-BE49-F238E27FC236}">
                <a16:creationId xmlns:a16="http://schemas.microsoft.com/office/drawing/2014/main" id="{1AF0EBFB-00A8-B69E-784E-7E95AFCE187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8907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1A46DD07-8908-378E-C0B2-480BC5700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0;p25">
            <a:extLst>
              <a:ext uri="{FF2B5EF4-FFF2-40B4-BE49-F238E27FC236}">
                <a16:creationId xmlns:a16="http://schemas.microsoft.com/office/drawing/2014/main" id="{B75B46C5-CF7C-8083-F308-67AFB97DB029}"/>
              </a:ext>
            </a:extLst>
          </p:cNvPr>
          <p:cNvSpPr/>
          <p:nvPr/>
        </p:nvSpPr>
        <p:spPr>
          <a:xfrm>
            <a:off x="182300" y="187175"/>
            <a:ext cx="846400" cy="50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640B58ED-E873-00F3-48EF-0CD64FD090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18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184;p23">
                <a:extLst>
                  <a:ext uri="{FF2B5EF4-FFF2-40B4-BE49-F238E27FC236}">
                    <a16:creationId xmlns:a16="http://schemas.microsoft.com/office/drawing/2014/main" id="{130474A7-43D9-603B-AFEA-FF855EA61FB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23850" y="1475275"/>
                <a:ext cx="8820150" cy="46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342900" lvl="2">
                  <a:lnSpc>
                    <a:spcPct val="150000"/>
                  </a:lnSpc>
                  <a:buSzPts val="1600"/>
                  <a:buFont typeface="Arial" panose="020B0604020202020204" pitchFamily="34" charset="0"/>
                  <a:buChar char="•"/>
                </a:pPr>
                <a:r>
                  <a:rPr lang="en-US" sz="2400" b="1" u="sng" kern="100" dirty="0"/>
                  <a:t>Method:</a:t>
                </a:r>
                <a:r>
                  <a:rPr lang="en-US" sz="2400" kern="100" dirty="0"/>
                  <a:t> </a:t>
                </a:r>
                <a:r>
                  <a:rPr lang="en-US" sz="2400" dirty="0"/>
                  <a:t>interrupted time series model + rater similarity scores</a:t>
                </a:r>
              </a:p>
              <a:p>
                <a:pPr marL="342900" lvl="2">
                  <a:lnSpc>
                    <a:spcPct val="150000"/>
                  </a:lnSpc>
                  <a:buSzPts val="16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de-D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de-DE" dirty="0"/>
              </a:p>
              <a:p>
                <a:pPr marL="342900" lvl="2">
                  <a:lnSpc>
                    <a:spcPct val="150000"/>
                  </a:lnSpc>
                  <a:buSzPts val="1600"/>
                  <a:buFont typeface="Arial" panose="020B0604020202020204" pitchFamily="34" charset="0"/>
                  <a:buChar char="•"/>
                </a:pPr>
                <a:r>
                  <a:rPr lang="en-US" sz="2400" b="1" u="sng" dirty="0"/>
                  <a:t>Findings: </a:t>
                </a:r>
              </a:p>
              <a:p>
                <a:pPr marL="285750" lvl="2" indent="-285750">
                  <a:lnSpc>
                    <a:spcPct val="150000"/>
                  </a:lnSpc>
                  <a:buSzPts val="1600"/>
                  <a:buFont typeface="Arial" panose="020B0604020202020204" pitchFamily="34" charset="0"/>
                  <a:buChar char="•"/>
                </a:pPr>
                <a:endParaRPr sz="2400" b="1" u="sng" dirty="0"/>
              </a:p>
            </p:txBody>
          </p:sp>
        </mc:Choice>
        <mc:Fallback xmlns="">
          <p:sp>
            <p:nvSpPr>
              <p:cNvPr id="5" name="Google Shape;184;p23">
                <a:extLst>
                  <a:ext uri="{FF2B5EF4-FFF2-40B4-BE49-F238E27FC236}">
                    <a16:creationId xmlns:a16="http://schemas.microsoft.com/office/drawing/2014/main" id="{130474A7-43D9-603B-AFEA-FF855EA61FB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3850" y="1475275"/>
                <a:ext cx="8820150" cy="4617600"/>
              </a:xfrm>
              <a:prstGeom prst="rect">
                <a:avLst/>
              </a:prstGeom>
              <a:blipFill>
                <a:blip r:embed="rId3"/>
                <a:stretch>
                  <a:fillRect l="-1313" r="-15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87;p23">
            <a:extLst>
              <a:ext uri="{FF2B5EF4-FFF2-40B4-BE49-F238E27FC236}">
                <a16:creationId xmlns:a16="http://schemas.microsoft.com/office/drawing/2014/main" id="{D1F73A04-DD1E-CCBE-26D0-D272518DB7DF}"/>
              </a:ext>
            </a:extLst>
          </p:cNvPr>
          <p:cNvSpPr txBox="1">
            <a:spLocks/>
          </p:cNvSpPr>
          <p:nvPr/>
        </p:nvSpPr>
        <p:spPr>
          <a:xfrm>
            <a:off x="209686" y="512400"/>
            <a:ext cx="8724626" cy="50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5000"/>
              </a:lnSpc>
              <a:buSzPts val="5200"/>
            </a:pPr>
            <a:r>
              <a:rPr lang="en-US" sz="2400" u="none" kern="100" dirty="0"/>
              <a:t>RQ 4: </a:t>
            </a:r>
            <a:r>
              <a:rPr lang="en-US" sz="2400" kern="100" dirty="0"/>
              <a:t>Do similar and dissimilar raters behave differently </a:t>
            </a:r>
            <a:br>
              <a:rPr lang="en-US" sz="2400" kern="100" dirty="0"/>
            </a:br>
            <a:r>
              <a:rPr lang="en-US" sz="2400" b="0" u="none" kern="100" dirty="0"/>
              <a:t>           </a:t>
            </a:r>
            <a:r>
              <a:rPr lang="en-US" sz="2400" kern="100" dirty="0"/>
              <a:t>after display?</a:t>
            </a:r>
            <a:endParaRPr lang="de-DE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D65018D-0A0C-D6A1-7226-9863909BB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267295"/>
            <a:ext cx="9144000" cy="2647111"/>
          </a:xfrm>
          <a:prstGeom prst="rect">
            <a:avLst/>
          </a:prstGeom>
        </p:spPr>
      </p:pic>
      <p:sp>
        <p:nvSpPr>
          <p:cNvPr id="3" name="Google Shape;188;p23">
            <a:extLst>
              <a:ext uri="{FF2B5EF4-FFF2-40B4-BE49-F238E27FC236}">
                <a16:creationId xmlns:a16="http://schemas.microsoft.com/office/drawing/2014/main" id="{79EF6379-807E-FB7C-0B6D-F1DDEA91C78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6" name="Google Shape;189;p23">
            <a:extLst>
              <a:ext uri="{FF2B5EF4-FFF2-40B4-BE49-F238E27FC236}">
                <a16:creationId xmlns:a16="http://schemas.microsoft.com/office/drawing/2014/main" id="{8E62E985-E34F-D615-6761-97548D87940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0254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829C6F26-6537-443C-AFC6-8BD397539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97EF8EE9-935C-20C2-A57E-FA6D88684512}"/>
              </a:ext>
            </a:extLst>
          </p:cNvPr>
          <p:cNvSpPr/>
          <p:nvPr/>
        </p:nvSpPr>
        <p:spPr>
          <a:xfrm>
            <a:off x="182300" y="187175"/>
            <a:ext cx="361500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D6E1CCF3-6060-4CB9-5E46-23496CDD57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19</a:t>
            </a:fld>
            <a:endParaRPr/>
          </a:p>
        </p:txBody>
      </p:sp>
      <p:sp>
        <p:nvSpPr>
          <p:cNvPr id="5" name="Google Shape;184;p23">
            <a:extLst>
              <a:ext uri="{FF2B5EF4-FFF2-40B4-BE49-F238E27FC236}">
                <a16:creationId xmlns:a16="http://schemas.microsoft.com/office/drawing/2014/main" id="{F101C8E1-4056-9781-3B6D-61FD9E2012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850" y="1475275"/>
            <a:ext cx="882015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b="1" u="sng" kern="100" dirty="0"/>
              <a:t>Question: </a:t>
            </a:r>
            <a:r>
              <a:rPr lang="en-US" sz="2400" dirty="0"/>
              <a:t>What would happen if we removed potentially polarized ratings?</a:t>
            </a:r>
            <a:endParaRPr lang="de-DE" dirty="0"/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b="1" u="sng" dirty="0"/>
              <a:t>Findings: </a:t>
            </a:r>
          </a:p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endParaRPr sz="2400" b="1" u="sng" dirty="0"/>
          </a:p>
        </p:txBody>
      </p:sp>
      <p:sp>
        <p:nvSpPr>
          <p:cNvPr id="7" name="Google Shape;187;p23">
            <a:extLst>
              <a:ext uri="{FF2B5EF4-FFF2-40B4-BE49-F238E27FC236}">
                <a16:creationId xmlns:a16="http://schemas.microsoft.com/office/drawing/2014/main" id="{519FE9EE-E05D-AE2C-5FB6-A000DF457DD5}"/>
              </a:ext>
            </a:extLst>
          </p:cNvPr>
          <p:cNvSpPr txBox="1">
            <a:spLocks/>
          </p:cNvSpPr>
          <p:nvPr/>
        </p:nvSpPr>
        <p:spPr>
          <a:xfrm>
            <a:off x="237074" y="360247"/>
            <a:ext cx="8724626" cy="50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5000"/>
              </a:lnSpc>
              <a:buSzPts val="5200"/>
            </a:pPr>
            <a:r>
              <a:rPr lang="en-US" sz="2400" u="none" kern="100" dirty="0"/>
              <a:t>Counterfactual Analysis</a:t>
            </a:r>
            <a:endParaRPr lang="de-DE" sz="2400" u="none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AA5E716-E923-1AB8-57DF-B45E5E0E7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350" y="3429000"/>
            <a:ext cx="6286500" cy="2563303"/>
          </a:xfrm>
          <a:prstGeom prst="rect">
            <a:avLst/>
          </a:prstGeom>
        </p:spPr>
      </p:pic>
      <p:sp>
        <p:nvSpPr>
          <p:cNvPr id="2" name="Google Shape;188;p23">
            <a:extLst>
              <a:ext uri="{FF2B5EF4-FFF2-40B4-BE49-F238E27FC236}">
                <a16:creationId xmlns:a16="http://schemas.microsoft.com/office/drawing/2014/main" id="{B08CEE97-4BE7-0933-0EAA-1655F7EB857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3" name="Google Shape;189;p23">
            <a:extLst>
              <a:ext uri="{FF2B5EF4-FFF2-40B4-BE49-F238E27FC236}">
                <a16:creationId xmlns:a16="http://schemas.microsoft.com/office/drawing/2014/main" id="{3AFC672B-E4E6-2554-750A-63A974B3BBD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5701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9FD3B575-B090-73DA-4C4D-3BA11A37A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A7C8CF01-733F-254B-E854-FCB0B52C6023}"/>
              </a:ext>
            </a:extLst>
          </p:cNvPr>
          <p:cNvSpPr/>
          <p:nvPr/>
        </p:nvSpPr>
        <p:spPr>
          <a:xfrm>
            <a:off x="182300" y="187175"/>
            <a:ext cx="470720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B58C6217-B7D3-4933-C430-D556EAA0C9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20</a:t>
            </a:fld>
            <a:endParaRPr/>
          </a:p>
        </p:txBody>
      </p:sp>
      <p:sp>
        <p:nvSpPr>
          <p:cNvPr id="5" name="Google Shape;184;p23">
            <a:extLst>
              <a:ext uri="{FF2B5EF4-FFF2-40B4-BE49-F238E27FC236}">
                <a16:creationId xmlns:a16="http://schemas.microsoft.com/office/drawing/2014/main" id="{C6F3F2ED-CCE3-D449-6F4D-96D6145A7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850" y="1475275"/>
            <a:ext cx="882015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b="1" u="sng" kern="100" dirty="0"/>
              <a:t>Question:</a:t>
            </a:r>
            <a:r>
              <a:rPr lang="en-US" sz="2400" kern="100" dirty="0"/>
              <a:t> </a:t>
            </a:r>
            <a:r>
              <a:rPr lang="en-US" sz="2400" dirty="0"/>
              <a:t>How do source quality and ideological positioning shape rating behavior?</a:t>
            </a:r>
          </a:p>
          <a:p>
            <a:pPr marL="342900" lvl="2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400" b="1" u="sng" dirty="0"/>
              <a:t>Findings: </a:t>
            </a:r>
          </a:p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endParaRPr sz="2400" b="1" u="sng" dirty="0"/>
          </a:p>
        </p:txBody>
      </p:sp>
      <p:sp>
        <p:nvSpPr>
          <p:cNvPr id="7" name="Google Shape;187;p23">
            <a:extLst>
              <a:ext uri="{FF2B5EF4-FFF2-40B4-BE49-F238E27FC236}">
                <a16:creationId xmlns:a16="http://schemas.microsoft.com/office/drawing/2014/main" id="{57FE8DD5-60FB-75B2-F1EC-1CA43CFF3B45}"/>
              </a:ext>
            </a:extLst>
          </p:cNvPr>
          <p:cNvSpPr txBox="1">
            <a:spLocks/>
          </p:cNvSpPr>
          <p:nvPr/>
        </p:nvSpPr>
        <p:spPr>
          <a:xfrm>
            <a:off x="182300" y="350463"/>
            <a:ext cx="8724626" cy="50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5000"/>
              </a:lnSpc>
              <a:buSzPts val="5200"/>
            </a:pPr>
            <a:r>
              <a:rPr lang="en-US" sz="2400" u="none" kern="100" dirty="0"/>
              <a:t>Effect of Source Characteristics</a:t>
            </a:r>
            <a:endParaRPr lang="de-DE" sz="2400" u="none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A3A2705-41CD-DCA7-9E3B-9DF9C52B3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92" y="3219450"/>
            <a:ext cx="8934214" cy="2939356"/>
          </a:xfrm>
          <a:prstGeom prst="rect">
            <a:avLst/>
          </a:prstGeom>
        </p:spPr>
      </p:pic>
      <p:sp>
        <p:nvSpPr>
          <p:cNvPr id="2" name="Google Shape;188;p23">
            <a:extLst>
              <a:ext uri="{FF2B5EF4-FFF2-40B4-BE49-F238E27FC236}">
                <a16:creationId xmlns:a16="http://schemas.microsoft.com/office/drawing/2014/main" id="{D637C7D4-85B0-3920-4D80-F98E222D898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6" name="Google Shape;189;p23">
            <a:extLst>
              <a:ext uri="{FF2B5EF4-FFF2-40B4-BE49-F238E27FC236}">
                <a16:creationId xmlns:a16="http://schemas.microsoft.com/office/drawing/2014/main" id="{E663BB30-2B3B-7F02-E99A-41C6B0B39E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0922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AF026135-5809-1EF0-4F10-B50FFAA8C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C92D00C8-7180-563B-9F73-D1840C231F70}"/>
              </a:ext>
            </a:extLst>
          </p:cNvPr>
          <p:cNvSpPr/>
          <p:nvPr/>
        </p:nvSpPr>
        <p:spPr>
          <a:xfrm>
            <a:off x="182300" y="187175"/>
            <a:ext cx="303715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AC8395AC-A206-B72E-2265-7E0DCF5FFC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21</a:t>
            </a:fld>
            <a:endParaRPr/>
          </a:p>
        </p:txBody>
      </p:sp>
      <p:sp>
        <p:nvSpPr>
          <p:cNvPr id="5" name="Google Shape;184;p23">
            <a:extLst>
              <a:ext uri="{FF2B5EF4-FFF2-40B4-BE49-F238E27FC236}">
                <a16:creationId xmlns:a16="http://schemas.microsoft.com/office/drawing/2014/main" id="{1EB96B9A-B8F1-ABF6-F97A-0A66CFDF1F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850" y="1475275"/>
            <a:ext cx="882015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b="1" u="sng" dirty="0"/>
              <a:t>Why:</a:t>
            </a:r>
            <a:r>
              <a:rPr lang="en-US" sz="2100" dirty="0"/>
              <a:t> The bridging algorithm is one aggregation rule among many. Each rule encodes a different normative claim about what "fair" aggregation means.</a:t>
            </a:r>
          </a:p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b="1" u="sng" dirty="0"/>
              <a:t>Test:</a:t>
            </a:r>
            <a:r>
              <a:rPr lang="en-US" sz="2100" dirty="0"/>
              <a:t> </a:t>
            </a:r>
          </a:p>
          <a:p>
            <a:pPr marL="742950" lvl="3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dirty="0"/>
              <a:t>Re-run note selection on the same dataset under alternative rules: </a:t>
            </a:r>
          </a:p>
          <a:p>
            <a:pPr marL="12001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/>
              <a:t>1. simple majority (≥50% helpful)</a:t>
            </a:r>
          </a:p>
          <a:p>
            <a:pPr marL="12001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/>
              <a:t>2. supermajority (≥66%)</a:t>
            </a:r>
          </a:p>
          <a:p>
            <a:pPr marL="12001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/>
              <a:t>3. Group-balanced </a:t>
            </a:r>
          </a:p>
          <a:p>
            <a:pPr marL="12001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/>
              <a:t>4. Quality-weighted </a:t>
            </a:r>
          </a:p>
        </p:txBody>
      </p:sp>
      <p:sp>
        <p:nvSpPr>
          <p:cNvPr id="7" name="Google Shape;187;p23">
            <a:extLst>
              <a:ext uri="{FF2B5EF4-FFF2-40B4-BE49-F238E27FC236}">
                <a16:creationId xmlns:a16="http://schemas.microsoft.com/office/drawing/2014/main" id="{FFEBBDB1-61A8-61CB-20CD-9A886CD9154F}"/>
              </a:ext>
            </a:extLst>
          </p:cNvPr>
          <p:cNvSpPr txBox="1">
            <a:spLocks/>
          </p:cNvSpPr>
          <p:nvPr/>
        </p:nvSpPr>
        <p:spPr>
          <a:xfrm>
            <a:off x="182300" y="350463"/>
            <a:ext cx="8724626" cy="50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5000"/>
              </a:lnSpc>
              <a:buSzPts val="5200"/>
            </a:pPr>
            <a:r>
              <a:rPr lang="en-US" sz="2400" u="none" kern="100" dirty="0"/>
              <a:t>Research Extension: </a:t>
            </a:r>
            <a:r>
              <a:rPr lang="de-DE" sz="2400" dirty="0"/>
              <a:t>Alternative Aggregation Rules</a:t>
            </a:r>
            <a:endParaRPr lang="de-DE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88;p23">
            <a:extLst>
              <a:ext uri="{FF2B5EF4-FFF2-40B4-BE49-F238E27FC236}">
                <a16:creationId xmlns:a16="http://schemas.microsoft.com/office/drawing/2014/main" id="{EBDB7BDA-BA3F-3F9A-22F8-03080AF4BF3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3" name="Google Shape;189;p23">
            <a:extLst>
              <a:ext uri="{FF2B5EF4-FFF2-40B4-BE49-F238E27FC236}">
                <a16:creationId xmlns:a16="http://schemas.microsoft.com/office/drawing/2014/main" id="{76C0C6B6-2BF5-CE49-F356-0130850586E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1390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53EB2841-844A-8CD3-5D90-6EBECA966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E3BB0C7C-15F0-6826-6C66-4A879D893780}"/>
              </a:ext>
            </a:extLst>
          </p:cNvPr>
          <p:cNvSpPr/>
          <p:nvPr/>
        </p:nvSpPr>
        <p:spPr>
          <a:xfrm>
            <a:off x="182300" y="187175"/>
            <a:ext cx="303715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FE4DB15A-EFE2-C233-6852-CA2D2B6627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22</a:t>
            </a:fld>
            <a:endParaRPr/>
          </a:p>
        </p:txBody>
      </p:sp>
      <p:sp>
        <p:nvSpPr>
          <p:cNvPr id="5" name="Google Shape;184;p23">
            <a:extLst>
              <a:ext uri="{FF2B5EF4-FFF2-40B4-BE49-F238E27FC236}">
                <a16:creationId xmlns:a16="http://schemas.microsoft.com/office/drawing/2014/main" id="{C78B2D95-5B92-974C-3F0E-7ECD7F90B4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850" y="1475275"/>
            <a:ext cx="882015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b="1" u="sng" dirty="0"/>
              <a:t>Test:</a:t>
            </a:r>
            <a:r>
              <a:rPr lang="en-US" sz="2100" dirty="0"/>
              <a:t> </a:t>
            </a:r>
          </a:p>
          <a:p>
            <a:pPr marL="742950" lvl="3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dirty="0"/>
              <a:t>(</a:t>
            </a:r>
            <a:r>
              <a:rPr lang="en-US" sz="2100" dirty="0" err="1"/>
              <a:t>i</a:t>
            </a:r>
            <a:r>
              <a:rPr lang="en-US" sz="2100" dirty="0"/>
              <a:t>) which notes survive, </a:t>
            </a:r>
          </a:p>
          <a:p>
            <a:pPr marL="742950" lvl="3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dirty="0"/>
              <a:t>(ii) overlap with bridging outcomes, </a:t>
            </a:r>
          </a:p>
          <a:p>
            <a:pPr marL="742950" lvl="3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dirty="0"/>
              <a:t>(iii) which subgroups (left/right authors, high/low influence, topic categories) gain or lose representation.</a:t>
            </a:r>
          </a:p>
        </p:txBody>
      </p:sp>
      <p:sp>
        <p:nvSpPr>
          <p:cNvPr id="7" name="Google Shape;187;p23">
            <a:extLst>
              <a:ext uri="{FF2B5EF4-FFF2-40B4-BE49-F238E27FC236}">
                <a16:creationId xmlns:a16="http://schemas.microsoft.com/office/drawing/2014/main" id="{FD93F257-09A2-27BB-1EB3-B0A81A1AEC45}"/>
              </a:ext>
            </a:extLst>
          </p:cNvPr>
          <p:cNvSpPr txBox="1">
            <a:spLocks/>
          </p:cNvSpPr>
          <p:nvPr/>
        </p:nvSpPr>
        <p:spPr>
          <a:xfrm>
            <a:off x="182300" y="350463"/>
            <a:ext cx="8724626" cy="50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5000"/>
              </a:lnSpc>
              <a:buSzPts val="5200"/>
            </a:pPr>
            <a:r>
              <a:rPr lang="en-US" sz="2400" u="none" kern="100" dirty="0"/>
              <a:t>Research Extension: </a:t>
            </a:r>
            <a:r>
              <a:rPr lang="de-DE" sz="2400" dirty="0"/>
              <a:t>Alternative Aggregation Rules</a:t>
            </a:r>
            <a:endParaRPr lang="de-DE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88;p23">
            <a:extLst>
              <a:ext uri="{FF2B5EF4-FFF2-40B4-BE49-F238E27FC236}">
                <a16:creationId xmlns:a16="http://schemas.microsoft.com/office/drawing/2014/main" id="{C10E346C-DD11-42D9-1622-0BDAB37779C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3" name="Google Shape;189;p23">
            <a:extLst>
              <a:ext uri="{FF2B5EF4-FFF2-40B4-BE49-F238E27FC236}">
                <a16:creationId xmlns:a16="http://schemas.microsoft.com/office/drawing/2014/main" id="{D9C29A7A-BFC7-68D6-F493-C5CFEBD8E0A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9513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6BA9AA85-88A3-34BC-EE3B-C73B4D7D7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F1A4E627-E8C1-76F2-85F9-50B0D1D4D35B}"/>
              </a:ext>
            </a:extLst>
          </p:cNvPr>
          <p:cNvSpPr/>
          <p:nvPr/>
        </p:nvSpPr>
        <p:spPr>
          <a:xfrm>
            <a:off x="182300" y="187175"/>
            <a:ext cx="303715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5636CB18-7315-15C0-1CF2-14EA06C329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23</a:t>
            </a:fld>
            <a:endParaRPr/>
          </a:p>
        </p:txBody>
      </p:sp>
      <p:sp>
        <p:nvSpPr>
          <p:cNvPr id="5" name="Google Shape;184;p23">
            <a:extLst>
              <a:ext uri="{FF2B5EF4-FFF2-40B4-BE49-F238E27FC236}">
                <a16:creationId xmlns:a16="http://schemas.microsoft.com/office/drawing/2014/main" id="{269E62DA-2F82-7078-3C88-7EACBA3F09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850" y="1475275"/>
            <a:ext cx="882015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b="1" u="sng" dirty="0"/>
              <a:t>Value:</a:t>
            </a:r>
            <a:r>
              <a:rPr lang="en-US" sz="2100" dirty="0"/>
              <a:t> </a:t>
            </a:r>
          </a:p>
          <a:p>
            <a:pPr marL="742950" lvl="3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dirty="0"/>
              <a:t>concretely shows the trade-offs between rules instead of arguing them abstractly</a:t>
            </a:r>
          </a:p>
          <a:p>
            <a:pPr marL="742950" lvl="3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dirty="0"/>
              <a:t>Directly operationalizes the question: What would it look like to optimize for something else?</a:t>
            </a:r>
          </a:p>
          <a:p>
            <a:pPr marL="742950" lvl="3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dirty="0"/>
              <a:t>Future research can evaluate whether other aggregation rules may yield better results for fact-checking and fairness</a:t>
            </a:r>
          </a:p>
        </p:txBody>
      </p:sp>
      <p:sp>
        <p:nvSpPr>
          <p:cNvPr id="7" name="Google Shape;187;p23">
            <a:extLst>
              <a:ext uri="{FF2B5EF4-FFF2-40B4-BE49-F238E27FC236}">
                <a16:creationId xmlns:a16="http://schemas.microsoft.com/office/drawing/2014/main" id="{8F90BB02-4349-6835-A0F2-9DEA04B93409}"/>
              </a:ext>
            </a:extLst>
          </p:cNvPr>
          <p:cNvSpPr txBox="1">
            <a:spLocks/>
          </p:cNvSpPr>
          <p:nvPr/>
        </p:nvSpPr>
        <p:spPr>
          <a:xfrm>
            <a:off x="182300" y="350463"/>
            <a:ext cx="8724626" cy="50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5000"/>
              </a:lnSpc>
              <a:buSzPts val="5200"/>
            </a:pPr>
            <a:r>
              <a:rPr lang="en-US" sz="2400" u="none" kern="100" dirty="0"/>
              <a:t>Research Extension: </a:t>
            </a:r>
            <a:r>
              <a:rPr lang="de-DE" sz="2400" dirty="0"/>
              <a:t>Alternative Aggregation Rules</a:t>
            </a:r>
            <a:endParaRPr lang="de-DE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88;p23">
            <a:extLst>
              <a:ext uri="{FF2B5EF4-FFF2-40B4-BE49-F238E27FC236}">
                <a16:creationId xmlns:a16="http://schemas.microsoft.com/office/drawing/2014/main" id="{23F0920E-6E14-5A87-1B4C-7E5C3C8FDA8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3" name="Google Shape;189;p23">
            <a:extLst>
              <a:ext uri="{FF2B5EF4-FFF2-40B4-BE49-F238E27FC236}">
                <a16:creationId xmlns:a16="http://schemas.microsoft.com/office/drawing/2014/main" id="{44578916-E67F-FB57-1FC6-7DFAAB46399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332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E478C91B-E4E2-4039-8DC3-6580A087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29C446F1-E224-22DA-557C-385734681358}"/>
              </a:ext>
            </a:extLst>
          </p:cNvPr>
          <p:cNvSpPr/>
          <p:nvPr/>
        </p:nvSpPr>
        <p:spPr>
          <a:xfrm>
            <a:off x="182300" y="187175"/>
            <a:ext cx="303715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2188DA38-7B0E-C197-AC90-CC52FA9C1D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24</a:t>
            </a:fld>
            <a:endParaRPr/>
          </a:p>
        </p:txBody>
      </p:sp>
      <p:sp>
        <p:nvSpPr>
          <p:cNvPr id="5" name="Google Shape;184;p23">
            <a:extLst>
              <a:ext uri="{FF2B5EF4-FFF2-40B4-BE49-F238E27FC236}">
                <a16:creationId xmlns:a16="http://schemas.microsoft.com/office/drawing/2014/main" id="{1169498D-FBDF-5BAF-BDA9-F58FD62900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7650" y="1427255"/>
            <a:ext cx="882015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dirty="0"/>
              <a:t>Dissimilar raters can flip outcomes, but the threshold is not clear</a:t>
            </a:r>
          </a:p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b="1" u="sng" dirty="0"/>
              <a:t>Test:</a:t>
            </a:r>
            <a:r>
              <a:rPr lang="en-US" sz="2100" dirty="0"/>
              <a:t> </a:t>
            </a:r>
          </a:p>
          <a:p>
            <a:pPr marL="742950" lvl="3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dirty="0"/>
              <a:t>1. For each disappeared note determine the minimum share of dissimilar-rater downvotes needed to push the note below the display threshold</a:t>
            </a:r>
          </a:p>
          <a:p>
            <a:pPr marL="742950" lvl="3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dirty="0"/>
              <a:t>2. Plot the distribution of "veto thresholds." </a:t>
            </a:r>
          </a:p>
          <a:p>
            <a:pPr marL="742950" lvl="3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dirty="0"/>
              <a:t>3. Compare against the share of dissimilar ratings that actually arrived.</a:t>
            </a:r>
          </a:p>
        </p:txBody>
      </p:sp>
      <p:sp>
        <p:nvSpPr>
          <p:cNvPr id="7" name="Google Shape;187;p23">
            <a:extLst>
              <a:ext uri="{FF2B5EF4-FFF2-40B4-BE49-F238E27FC236}">
                <a16:creationId xmlns:a16="http://schemas.microsoft.com/office/drawing/2014/main" id="{E4E1B81B-8A16-48F4-EBF0-6F90552DB7C8}"/>
              </a:ext>
            </a:extLst>
          </p:cNvPr>
          <p:cNvSpPr txBox="1">
            <a:spLocks/>
          </p:cNvSpPr>
          <p:nvPr/>
        </p:nvSpPr>
        <p:spPr>
          <a:xfrm>
            <a:off x="182300" y="350463"/>
            <a:ext cx="8724626" cy="50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5000"/>
              </a:lnSpc>
              <a:buSzPts val="5200"/>
            </a:pPr>
            <a:r>
              <a:rPr lang="en-US" sz="2400" u="none" kern="100" dirty="0"/>
              <a:t>Research Extension: </a:t>
            </a:r>
            <a:r>
              <a:rPr lang="de-DE" sz="2400" dirty="0"/>
              <a:t>The </a:t>
            </a:r>
            <a:r>
              <a:rPr lang="de-DE" sz="2400" dirty="0" err="1"/>
              <a:t>Minority</a:t>
            </a:r>
            <a:r>
              <a:rPr lang="de-DE" sz="2400" dirty="0"/>
              <a:t> Veto Threshold</a:t>
            </a:r>
            <a:endParaRPr lang="de-DE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88;p23">
            <a:extLst>
              <a:ext uri="{FF2B5EF4-FFF2-40B4-BE49-F238E27FC236}">
                <a16:creationId xmlns:a16="http://schemas.microsoft.com/office/drawing/2014/main" id="{4382F052-A925-283A-3799-7EBCF38CABE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3" name="Google Shape;189;p23">
            <a:extLst>
              <a:ext uri="{FF2B5EF4-FFF2-40B4-BE49-F238E27FC236}">
                <a16:creationId xmlns:a16="http://schemas.microsoft.com/office/drawing/2014/main" id="{A5778BD3-5D9D-5CA5-9725-8AF5E734024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0466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F84590AF-1475-6627-3B27-CE066F89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6D71EBAB-D8AA-BD7C-6A10-C0D4822B6591}"/>
              </a:ext>
            </a:extLst>
          </p:cNvPr>
          <p:cNvSpPr/>
          <p:nvPr/>
        </p:nvSpPr>
        <p:spPr>
          <a:xfrm>
            <a:off x="182300" y="187175"/>
            <a:ext cx="303715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612AE463-AC8D-5A22-ACD1-3C2E0C1AC6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25</a:t>
            </a:fld>
            <a:endParaRPr/>
          </a:p>
        </p:txBody>
      </p:sp>
      <p:sp>
        <p:nvSpPr>
          <p:cNvPr id="5" name="Google Shape;184;p23">
            <a:extLst>
              <a:ext uri="{FF2B5EF4-FFF2-40B4-BE49-F238E27FC236}">
                <a16:creationId xmlns:a16="http://schemas.microsoft.com/office/drawing/2014/main" id="{8AB95E8C-0719-F4B5-F84C-CDB1DE86AF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850" y="1475275"/>
            <a:ext cx="882015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b="1" u="sng" dirty="0"/>
              <a:t>Value:</a:t>
            </a:r>
          </a:p>
          <a:p>
            <a:pPr marL="742950" lvl="3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dirty="0"/>
              <a:t>Turns the normative question into a measurable quantity. </a:t>
            </a:r>
          </a:p>
          <a:p>
            <a:pPr marL="742950" lvl="3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dirty="0"/>
              <a:t>A quantified median veto threshold of post-display ratings is a concrete, defensible fact about how the bridging rule weights minority influence.</a:t>
            </a:r>
          </a:p>
          <a:p>
            <a:pPr marL="742950" lvl="3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dirty="0"/>
              <a:t>Future research can test whether this threshold should be changed to increase the stability of accurate and trusted fact-checking</a:t>
            </a:r>
            <a:endParaRPr sz="2100" dirty="0"/>
          </a:p>
        </p:txBody>
      </p:sp>
      <p:sp>
        <p:nvSpPr>
          <p:cNvPr id="7" name="Google Shape;187;p23">
            <a:extLst>
              <a:ext uri="{FF2B5EF4-FFF2-40B4-BE49-F238E27FC236}">
                <a16:creationId xmlns:a16="http://schemas.microsoft.com/office/drawing/2014/main" id="{F3C4502E-0A34-7D4A-A0F4-E4095624413D}"/>
              </a:ext>
            </a:extLst>
          </p:cNvPr>
          <p:cNvSpPr txBox="1">
            <a:spLocks/>
          </p:cNvSpPr>
          <p:nvPr/>
        </p:nvSpPr>
        <p:spPr>
          <a:xfrm>
            <a:off x="182300" y="350463"/>
            <a:ext cx="8724626" cy="50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5000"/>
              </a:lnSpc>
              <a:buSzPts val="5200"/>
            </a:pPr>
            <a:r>
              <a:rPr lang="en-US" sz="2400" u="none" kern="100" dirty="0"/>
              <a:t>Research Extension: </a:t>
            </a:r>
            <a:r>
              <a:rPr lang="de-DE" sz="2400" dirty="0"/>
              <a:t>The </a:t>
            </a:r>
            <a:r>
              <a:rPr lang="de-DE" sz="2400" dirty="0" err="1"/>
              <a:t>Minority</a:t>
            </a:r>
            <a:r>
              <a:rPr lang="de-DE" sz="2400" dirty="0"/>
              <a:t> Veto Threshold</a:t>
            </a:r>
            <a:endParaRPr lang="de-DE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88;p23">
            <a:extLst>
              <a:ext uri="{FF2B5EF4-FFF2-40B4-BE49-F238E27FC236}">
                <a16:creationId xmlns:a16="http://schemas.microsoft.com/office/drawing/2014/main" id="{30D88E80-0F25-1126-D95E-EC244437648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3" name="Google Shape;189;p23">
            <a:extLst>
              <a:ext uri="{FF2B5EF4-FFF2-40B4-BE49-F238E27FC236}">
                <a16:creationId xmlns:a16="http://schemas.microsoft.com/office/drawing/2014/main" id="{7647D4D7-2637-7DF1-A191-56885317032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38341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7E338B6D-6215-D6E1-F8A0-F8F6734D6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0;p25">
            <a:extLst>
              <a:ext uri="{FF2B5EF4-FFF2-40B4-BE49-F238E27FC236}">
                <a16:creationId xmlns:a16="http://schemas.microsoft.com/office/drawing/2014/main" id="{D763551F-7DEF-C062-38DC-EDCA8F1B6260}"/>
              </a:ext>
            </a:extLst>
          </p:cNvPr>
          <p:cNvSpPr/>
          <p:nvPr/>
        </p:nvSpPr>
        <p:spPr>
          <a:xfrm>
            <a:off x="182300" y="187175"/>
            <a:ext cx="303715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DC192E77-368B-DECD-CBA4-64E0DA703E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26</a:t>
            </a:fld>
            <a:endParaRPr/>
          </a:p>
        </p:txBody>
      </p:sp>
      <p:sp>
        <p:nvSpPr>
          <p:cNvPr id="5" name="Google Shape;184;p23">
            <a:extLst>
              <a:ext uri="{FF2B5EF4-FFF2-40B4-BE49-F238E27FC236}">
                <a16:creationId xmlns:a16="http://schemas.microsoft.com/office/drawing/2014/main" id="{34ABE56E-299A-9DB7-3452-FCD024041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850" y="1475275"/>
            <a:ext cx="882015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dirty="0"/>
              <a:t>Community Notes raters are a self-selected group</a:t>
            </a:r>
          </a:p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b="1" u="sng" dirty="0"/>
              <a:t>Why:</a:t>
            </a:r>
            <a:r>
              <a:rPr lang="en-US" sz="2100" dirty="0"/>
              <a:t> Post-display ratings may involve a different rater composition</a:t>
            </a:r>
          </a:p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b="1" u="sng" dirty="0"/>
              <a:t>Test:</a:t>
            </a:r>
            <a:r>
              <a:rPr lang="en-US" sz="2100" dirty="0"/>
              <a:t> compare pre-display and post-display raters directly</a:t>
            </a:r>
          </a:p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b="1" u="sng" dirty="0"/>
              <a:t>Value:</a:t>
            </a:r>
            <a:r>
              <a:rPr lang="en-US" sz="2100" dirty="0"/>
              <a:t> improves selection criteria for the Community Notes rating group</a:t>
            </a:r>
            <a:endParaRPr sz="2100" dirty="0"/>
          </a:p>
        </p:txBody>
      </p:sp>
      <p:sp>
        <p:nvSpPr>
          <p:cNvPr id="7" name="Google Shape;187;p23">
            <a:extLst>
              <a:ext uri="{FF2B5EF4-FFF2-40B4-BE49-F238E27FC236}">
                <a16:creationId xmlns:a16="http://schemas.microsoft.com/office/drawing/2014/main" id="{12D8F447-8843-5152-C914-907A86B4DE60}"/>
              </a:ext>
            </a:extLst>
          </p:cNvPr>
          <p:cNvSpPr txBox="1">
            <a:spLocks/>
          </p:cNvSpPr>
          <p:nvPr/>
        </p:nvSpPr>
        <p:spPr>
          <a:xfrm>
            <a:off x="182300" y="350463"/>
            <a:ext cx="8724626" cy="50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5000"/>
              </a:lnSpc>
              <a:buSzPts val="5200"/>
            </a:pPr>
            <a:r>
              <a:rPr lang="en-US" sz="2400" u="none" kern="100" dirty="0"/>
              <a:t>Research Extension: </a:t>
            </a:r>
            <a:r>
              <a:rPr lang="de-DE" sz="2400" dirty="0"/>
              <a:t>Pre-display </a:t>
            </a:r>
            <a:r>
              <a:rPr lang="de-DE" sz="2400" dirty="0" err="1"/>
              <a:t>selection</a:t>
            </a:r>
            <a:r>
              <a:rPr lang="de-DE" sz="2400" dirty="0"/>
              <a:t> </a:t>
            </a:r>
            <a:r>
              <a:rPr lang="de-DE" sz="2400" dirty="0" err="1"/>
              <a:t>bias</a:t>
            </a:r>
            <a:endParaRPr lang="de-DE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88;p23">
            <a:extLst>
              <a:ext uri="{FF2B5EF4-FFF2-40B4-BE49-F238E27FC236}">
                <a16:creationId xmlns:a16="http://schemas.microsoft.com/office/drawing/2014/main" id="{3BFAA8C2-CCB0-27A6-FD81-000FB1F4EEE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3" name="Google Shape;189;p23">
            <a:extLst>
              <a:ext uri="{FF2B5EF4-FFF2-40B4-BE49-F238E27FC236}">
                <a16:creationId xmlns:a16="http://schemas.microsoft.com/office/drawing/2014/main" id="{AD8376A0-4407-62D1-732D-2C6362BE66B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8004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924CA2D9-1086-2108-58D8-E9A29D3A5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0;p25">
            <a:extLst>
              <a:ext uri="{FF2B5EF4-FFF2-40B4-BE49-F238E27FC236}">
                <a16:creationId xmlns:a16="http://schemas.microsoft.com/office/drawing/2014/main" id="{676F9EA8-D389-F319-1431-8FFC02E358E7}"/>
              </a:ext>
            </a:extLst>
          </p:cNvPr>
          <p:cNvSpPr/>
          <p:nvPr/>
        </p:nvSpPr>
        <p:spPr>
          <a:xfrm>
            <a:off x="182300" y="187175"/>
            <a:ext cx="303715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>
            <a:extLst>
              <a:ext uri="{FF2B5EF4-FFF2-40B4-BE49-F238E27FC236}">
                <a16:creationId xmlns:a16="http://schemas.microsoft.com/office/drawing/2014/main" id="{608ABB58-5451-58CA-B401-587D200A72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27</a:t>
            </a:fld>
            <a:endParaRPr/>
          </a:p>
        </p:txBody>
      </p:sp>
      <p:sp>
        <p:nvSpPr>
          <p:cNvPr id="5" name="Google Shape;184;p23">
            <a:extLst>
              <a:ext uri="{FF2B5EF4-FFF2-40B4-BE49-F238E27FC236}">
                <a16:creationId xmlns:a16="http://schemas.microsoft.com/office/drawing/2014/main" id="{D01B8E7D-3CA8-A7C3-6D60-2D6B17426E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850" y="1475275"/>
            <a:ext cx="8724626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dirty="0"/>
              <a:t>Notes on high-profile accounts disappear more often</a:t>
            </a:r>
          </a:p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b="1" u="sng" dirty="0"/>
              <a:t>Why:</a:t>
            </a:r>
            <a:r>
              <a:rPr lang="en-US" sz="2100" dirty="0"/>
              <a:t> audience mobilization, visibility, or hidden rating dynamics</a:t>
            </a:r>
          </a:p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b="1" u="sng" dirty="0"/>
              <a:t>Test:</a:t>
            </a:r>
            <a:r>
              <a:rPr lang="en-US" sz="2100" dirty="0"/>
              <a:t> cases with low similar/dissimilar rater disparity</a:t>
            </a:r>
          </a:p>
          <a:p>
            <a:pPr marL="285750" lvl="2" indent="-285750">
              <a:lnSpc>
                <a:spcPct val="150000"/>
              </a:lnSpc>
              <a:buSzPts val="1600"/>
              <a:buFont typeface="Arial" panose="020B0604020202020204" pitchFamily="34" charset="0"/>
              <a:buChar char="•"/>
            </a:pPr>
            <a:r>
              <a:rPr lang="en-US" sz="2100" b="1" u="sng" dirty="0"/>
              <a:t>Value:</a:t>
            </a:r>
            <a:r>
              <a:rPr lang="en-US" sz="2100" dirty="0"/>
              <a:t> exposes possible bias and supports more transparent fact-checking</a:t>
            </a:r>
            <a:endParaRPr sz="2100" dirty="0"/>
          </a:p>
        </p:txBody>
      </p:sp>
      <p:sp>
        <p:nvSpPr>
          <p:cNvPr id="7" name="Google Shape;187;p23">
            <a:extLst>
              <a:ext uri="{FF2B5EF4-FFF2-40B4-BE49-F238E27FC236}">
                <a16:creationId xmlns:a16="http://schemas.microsoft.com/office/drawing/2014/main" id="{6AE0AC21-76C9-52DE-4F36-4E28303569EA}"/>
              </a:ext>
            </a:extLst>
          </p:cNvPr>
          <p:cNvSpPr txBox="1">
            <a:spLocks/>
          </p:cNvSpPr>
          <p:nvPr/>
        </p:nvSpPr>
        <p:spPr>
          <a:xfrm>
            <a:off x="182300" y="350463"/>
            <a:ext cx="8724626" cy="50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5000"/>
              </a:lnSpc>
              <a:buSzPts val="5200"/>
            </a:pPr>
            <a:r>
              <a:rPr lang="en-US" sz="2400" u="none" kern="100" dirty="0"/>
              <a:t>Research Extension: </a:t>
            </a:r>
            <a:r>
              <a:rPr lang="de-DE" sz="2400" dirty="0"/>
              <a:t>High-</a:t>
            </a:r>
            <a:r>
              <a:rPr lang="de-DE" sz="2400" dirty="0" err="1"/>
              <a:t>influence</a:t>
            </a:r>
            <a:r>
              <a:rPr lang="de-DE" sz="2400" dirty="0"/>
              <a:t> </a:t>
            </a:r>
            <a:r>
              <a:rPr lang="de-DE" sz="2400" dirty="0" err="1"/>
              <a:t>account</a:t>
            </a:r>
            <a:r>
              <a:rPr lang="de-DE" sz="2400" dirty="0"/>
              <a:t> </a:t>
            </a:r>
            <a:r>
              <a:rPr lang="de-DE" sz="2400" dirty="0" err="1"/>
              <a:t>effects</a:t>
            </a:r>
            <a:endParaRPr lang="de-DE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188;p23">
            <a:extLst>
              <a:ext uri="{FF2B5EF4-FFF2-40B4-BE49-F238E27FC236}">
                <a16:creationId xmlns:a16="http://schemas.microsoft.com/office/drawing/2014/main" id="{9B203DFE-A9B8-60ED-76CB-013682D692B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6" name="Google Shape;189;p23">
            <a:extLst>
              <a:ext uri="{FF2B5EF4-FFF2-40B4-BE49-F238E27FC236}">
                <a16:creationId xmlns:a16="http://schemas.microsoft.com/office/drawing/2014/main" id="{23E38A5D-E649-C581-6F3F-19939E13EE1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59184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6"/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28</a:t>
            </a:fld>
            <a:endParaRPr/>
          </a:p>
        </p:txBody>
      </p:sp>
      <p:sp>
        <p:nvSpPr>
          <p:cNvPr id="455" name="Google Shape;455;p46"/>
          <p:cNvSpPr txBox="1">
            <a:spLocks noGrp="1"/>
          </p:cNvSpPr>
          <p:nvPr>
            <p:ph type="body" idx="1"/>
          </p:nvPr>
        </p:nvSpPr>
        <p:spPr>
          <a:xfrm>
            <a:off x="680400" y="2560846"/>
            <a:ext cx="7783200" cy="1736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US" sz="2800" dirty="0"/>
              <a:t>“Is bridging protecting minority viewpoints, or giving them veto power? What should the system be optimizing ? consensus, minority protection, or viewpoint balance?”</a:t>
            </a:r>
            <a:endParaRPr sz="2800" dirty="0"/>
          </a:p>
        </p:txBody>
      </p:sp>
      <p:sp>
        <p:nvSpPr>
          <p:cNvPr id="456" name="Google Shape;456;p46"/>
          <p:cNvSpPr/>
          <p:nvPr/>
        </p:nvSpPr>
        <p:spPr>
          <a:xfrm>
            <a:off x="182300" y="187175"/>
            <a:ext cx="698370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46"/>
          <p:cNvSpPr txBox="1">
            <a:spLocks noGrp="1"/>
          </p:cNvSpPr>
          <p:nvPr>
            <p:ph type="ctrTitle" idx="4294967295"/>
          </p:nvPr>
        </p:nvSpPr>
        <p:spPr>
          <a:xfrm>
            <a:off x="218025" y="258050"/>
            <a:ext cx="68679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de-DE" sz="4700" u="none"/>
              <a:t>Discussion question #1:</a:t>
            </a:r>
            <a:endParaRPr sz="1500"/>
          </a:p>
        </p:txBody>
      </p:sp>
      <p:sp>
        <p:nvSpPr>
          <p:cNvPr id="2" name="Google Shape;188;p23">
            <a:extLst>
              <a:ext uri="{FF2B5EF4-FFF2-40B4-BE49-F238E27FC236}">
                <a16:creationId xmlns:a16="http://schemas.microsoft.com/office/drawing/2014/main" id="{C0F88EEF-282D-F40C-699B-4F763DF3343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3" name="Google Shape;189;p23">
            <a:extLst>
              <a:ext uri="{FF2B5EF4-FFF2-40B4-BE49-F238E27FC236}">
                <a16:creationId xmlns:a16="http://schemas.microsoft.com/office/drawing/2014/main" id="{D6DABB97-C272-5671-81DE-740F463AF6B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>
          <a:extLst>
            <a:ext uri="{FF2B5EF4-FFF2-40B4-BE49-F238E27FC236}">
              <a16:creationId xmlns:a16="http://schemas.microsoft.com/office/drawing/2014/main" id="{E5D6A764-C4ED-D17E-1BAF-C3D77D195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6">
            <a:extLst>
              <a:ext uri="{FF2B5EF4-FFF2-40B4-BE49-F238E27FC236}">
                <a16:creationId xmlns:a16="http://schemas.microsoft.com/office/drawing/2014/main" id="{B6A84CB4-B4F7-D8B0-0808-B36F2D08EF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23850" y="6453336"/>
            <a:ext cx="935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29</a:t>
            </a:fld>
            <a:endParaRPr/>
          </a:p>
        </p:txBody>
      </p:sp>
      <p:sp>
        <p:nvSpPr>
          <p:cNvPr id="455" name="Google Shape;455;p46">
            <a:extLst>
              <a:ext uri="{FF2B5EF4-FFF2-40B4-BE49-F238E27FC236}">
                <a16:creationId xmlns:a16="http://schemas.microsoft.com/office/drawing/2014/main" id="{0D5334DC-23CE-AC76-D2F7-E1858CDE70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400" y="2392350"/>
            <a:ext cx="7783200" cy="20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de-DE" sz="2800" dirty="0"/>
              <a:t>“S</a:t>
            </a:r>
            <a:r>
              <a:rPr lang="en-US" sz="2800" dirty="0" err="1"/>
              <a:t>hould</a:t>
            </a:r>
            <a:r>
              <a:rPr lang="en-US" sz="2800" dirty="0"/>
              <a:t> AI support crowdsourced fact-checking by helping contributors find reliable sources, or would this create new risks of bias and overreliance on automated systems?”</a:t>
            </a:r>
            <a:endParaRPr sz="2800" dirty="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</a:pPr>
            <a:endParaRPr sz="2800" dirty="0"/>
          </a:p>
        </p:txBody>
      </p:sp>
      <p:sp>
        <p:nvSpPr>
          <p:cNvPr id="456" name="Google Shape;456;p46">
            <a:extLst>
              <a:ext uri="{FF2B5EF4-FFF2-40B4-BE49-F238E27FC236}">
                <a16:creationId xmlns:a16="http://schemas.microsoft.com/office/drawing/2014/main" id="{41EC0680-ADBF-26D8-B2C9-646F08BF7116}"/>
              </a:ext>
            </a:extLst>
          </p:cNvPr>
          <p:cNvSpPr/>
          <p:nvPr/>
        </p:nvSpPr>
        <p:spPr>
          <a:xfrm>
            <a:off x="182300" y="187175"/>
            <a:ext cx="6983700" cy="83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46">
            <a:extLst>
              <a:ext uri="{FF2B5EF4-FFF2-40B4-BE49-F238E27FC236}">
                <a16:creationId xmlns:a16="http://schemas.microsoft.com/office/drawing/2014/main" id="{301AE09C-CDDF-9DF0-D0D8-FE40B5613FD6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18025" y="258050"/>
            <a:ext cx="68679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2800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de-DE" sz="4700" u="none" dirty="0" err="1"/>
              <a:t>Discussion</a:t>
            </a:r>
            <a:r>
              <a:rPr lang="de-DE" sz="4700" u="none" dirty="0"/>
              <a:t> </a:t>
            </a:r>
            <a:r>
              <a:rPr lang="de-DE" sz="4700" u="none" dirty="0" err="1"/>
              <a:t>question</a:t>
            </a:r>
            <a:r>
              <a:rPr lang="de-DE" sz="4700" u="none" dirty="0"/>
              <a:t> #2:</a:t>
            </a:r>
            <a:endParaRPr sz="1500" dirty="0"/>
          </a:p>
        </p:txBody>
      </p:sp>
      <p:sp>
        <p:nvSpPr>
          <p:cNvPr id="2" name="Google Shape;188;p23">
            <a:extLst>
              <a:ext uri="{FF2B5EF4-FFF2-40B4-BE49-F238E27FC236}">
                <a16:creationId xmlns:a16="http://schemas.microsoft.com/office/drawing/2014/main" id="{BBB514BE-BE5F-62CD-0D67-EF308E2F202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403350" y="6453336"/>
            <a:ext cx="936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" dirty="0"/>
              <a:t>06.05.2026</a:t>
            </a:r>
            <a:endParaRPr sz="400" dirty="0"/>
          </a:p>
        </p:txBody>
      </p:sp>
      <p:sp>
        <p:nvSpPr>
          <p:cNvPr id="3" name="Google Shape;189;p23">
            <a:extLst>
              <a:ext uri="{FF2B5EF4-FFF2-40B4-BE49-F238E27FC236}">
                <a16:creationId xmlns:a16="http://schemas.microsoft.com/office/drawing/2014/main" id="{C5BE5255-321E-7DAE-A145-133CBFAEA0A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420268" y="6453336"/>
            <a:ext cx="2303462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0" anchor="b" anchorCtr="0">
            <a:noAutofit/>
          </a:bodyPr>
          <a:lstStyle/>
          <a:p>
            <a:pPr lvl="0"/>
            <a:r>
              <a:rPr lang="en-US" sz="800" dirty="0"/>
              <a:t>Consensus Stability of Community Notes on 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8140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0"/>
          <p:cNvSpPr/>
          <p:nvPr/>
        </p:nvSpPr>
        <p:spPr>
          <a:xfrm>
            <a:off x="289609" y="3043100"/>
            <a:ext cx="7157700" cy="99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62375" tIns="81175" rIns="162375" bIns="811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9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50"/>
          <p:cNvSpPr/>
          <p:nvPr/>
        </p:nvSpPr>
        <p:spPr>
          <a:xfrm>
            <a:off x="289635" y="2045306"/>
            <a:ext cx="4152900" cy="99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62375" tIns="81175" rIns="162375" bIns="811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9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0"/>
          <p:cNvSpPr txBox="1">
            <a:spLocks noGrp="1"/>
          </p:cNvSpPr>
          <p:nvPr>
            <p:ph type="ctrTitle"/>
          </p:nvPr>
        </p:nvSpPr>
        <p:spPr>
          <a:xfrm>
            <a:off x="350440" y="1916134"/>
            <a:ext cx="9336000" cy="21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89525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17"/>
              <a:buFont typeface="Arial"/>
              <a:buNone/>
            </a:pPr>
            <a:r>
              <a:rPr lang="de-DE" sz="6217"/>
              <a:t>Thank you</a:t>
            </a:r>
            <a:endParaRPr sz="6217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17"/>
              <a:buFont typeface="Arial"/>
              <a:buNone/>
            </a:pPr>
            <a:r>
              <a:rPr lang="de-DE" sz="6217"/>
              <a:t>For Your Attention</a:t>
            </a:r>
            <a:endParaRPr sz="6217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verstiät Konstanz Design">
  <a:themeElements>
    <a:clrScheme name="UNIK Farben PowerPoint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9AD1"/>
      </a:accent1>
      <a:accent2>
        <a:srgbClr val="59B6DC"/>
      </a:accent2>
      <a:accent3>
        <a:srgbClr val="A0D3E6"/>
      </a:accent3>
      <a:accent4>
        <a:srgbClr val="C8E5EF"/>
      </a:accent4>
      <a:accent5>
        <a:srgbClr val="B2B2B2"/>
      </a:accent5>
      <a:accent6>
        <a:srgbClr val="808080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1441</Words>
  <Application>Microsoft Office PowerPoint</Application>
  <PresentationFormat>Bildschirmpräsentation (4:3)</PresentationFormat>
  <Paragraphs>221</Paragraphs>
  <Slides>30</Slides>
  <Notes>30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30</vt:i4>
      </vt:variant>
    </vt:vector>
  </HeadingPairs>
  <TitlesOfParts>
    <vt:vector size="35" baseType="lpstr">
      <vt:lpstr>Aptos</vt:lpstr>
      <vt:lpstr>Arial</vt:lpstr>
      <vt:lpstr>Calibri</vt:lpstr>
      <vt:lpstr>Cambria Math</vt:lpstr>
      <vt:lpstr>Universtiät Konstanz Design</vt:lpstr>
      <vt:lpstr>Consensus Stability of Community Notes  on X</vt:lpstr>
      <vt:lpstr>Authors:</vt:lpstr>
      <vt:lpstr>False Posts</vt:lpstr>
      <vt:lpstr>The Fix?</vt:lpstr>
      <vt:lpstr>Community Notes</vt:lpstr>
      <vt:lpstr>Four-Part Concept Puzzle – Slide Template</vt:lpstr>
      <vt:lpstr>Bridging ≠ Majority Rule</vt:lpstr>
      <vt:lpstr>Basic Formula</vt:lpstr>
      <vt:lpstr>Basic Formula</vt:lpstr>
      <vt:lpstr>PowerPoint-Präsentation</vt:lpstr>
      <vt:lpstr>Dataset</vt:lpstr>
      <vt:lpstr>Rater Similarity</vt:lpstr>
      <vt:lpstr>Rater Groups</vt:lpstr>
      <vt:lpstr>Multi-step Approach</vt:lpstr>
      <vt:lpstr>RQ 1: How often do displayed notes disappear?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Discussion question #1:</vt:lpstr>
      <vt:lpstr>Discussion question #2: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Alexander Chenlong He</dc:creator>
  <cp:lastModifiedBy>Alexander Chenlong He</cp:lastModifiedBy>
  <cp:revision>17</cp:revision>
  <dcterms:modified xsi:type="dcterms:W3CDTF">2026-05-06T12:31:53Z</dcterms:modified>
</cp:coreProperties>
</file>